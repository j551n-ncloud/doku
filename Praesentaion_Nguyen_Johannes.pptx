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 des Prüfungsausschusses. Kurz vorstellen: Johannes Nguyen, Auszubildender zum Fachinformatiker Systemintegration am DKFZ.</a:t>
            </a:r>
          </a:p>
          <a:p>
            <a:r>
              <a:t>Thema: Einrichtung eines dedizierten Proxmox Backup Servers bei der ODCF.</a:t>
            </a:r>
          </a:p>
          <a:p>
            <a:r>
              <a:t>In den nächsten rund 15 Minuten zeige ich Ausgangslage, Lösung und Ergebnis.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Kurzer Überblick über den Ablauf. Nicht vorlesen, nur grob durchgehen.</a:t>
            </a:r>
          </a:p>
          <a:p>
            <a:r>
              <a:t>Erst der technische und betriebliche Kontext, dann Planung und Analyse, anschließend Entwurf und Umsetzung, am Ende Abnahme, Fazit und Ausblick.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Damit alle die Begriffe einordnen können, kurz die vier Kerntechnologien.</a:t>
            </a:r>
          </a:p>
          <a:p>
            <a:r>
              <a:t>Proxmox VE: Virtualisierungsplattform, auf der die VMs und Container laufen, bei uns 6 Knoten.</a:t>
            </a:r>
          </a:p>
          <a:p>
            <a:r>
              <a:t>Proxmox Backup Server: die eigentliche Backup-Lösung, inkrementell und mit Deduplizierung.</a:t>
            </a:r>
          </a:p>
          <a:p>
            <a:r>
              <a:t>Ceph: das verteilte Primär-Storage des Clusters.</a:t>
            </a:r>
          </a:p>
          <a:p>
            <a:r>
              <a:t>Hardware-RAID gegen ZFS: wichtig für eine spätere Entscheidung, der alte Server kann nur Hardware-RAID.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DKFZ ist die größte biomedizinische Forschungseinrichtung Deutschlands in Heidelberg.</a:t>
            </a:r>
          </a:p>
          <a:p>
            <a:r>
              <a:t>Die ODCF ist der interne IT-Dienstleister und betreibt unter anderem den Proxmox-Cluster mit rund 60 VMs.</a:t>
            </a:r>
          </a:p>
          <a:p>
            <a:r>
              <a:t>Wichtig: internes Projekt, Auftraggeber und Auftragnehmer sind beide das DKFZ. Auftraggeber ist Frank Thommen.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Ausgangslage links: Backups lagen nur lokal auf den Hypervisoren, die VxRail-Knoten hatten gar keinen lokalen Storage. Primär- und Sicherungsdaten lagen zusammen, keine zentrale Verwaltung, keine Integritätsprüfung, Restores über Tape waren langsam.</a:t>
            </a:r>
          </a:p>
          <a:p>
            <a:r>
              <a:t>Das Ziel rechts: ein dedizierter, zentraler Backup-Server mit inkrementellen Backups, Monitoring und Dokumentation.</a:t>
            </a:r>
          </a:p>
          <a:p>
            <a:r>
              <a:t>Hinweis auf den Scope: es ist eine Blueprint-Instanz, kein Ersatz der bestehenden Sicherung.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Stunden Gesamtbudget, davon maximal 8 Stunden Dokumentation.</a:t>
            </a:r>
          </a:p>
          <a:p>
            <a:r>
              <a:t>Der Balken zeigt die Aufteilung auf die Phasen von Analyse bis Dokumentation.</a:t>
            </a:r>
          </a:p>
          <a:p>
            <a:r>
              <a:t>Vorgehen war iterativ, nach jeder Phase kurze Abstimmung mit dem Betreuer.</a:t>
            </a:r>
          </a:p>
          <a:p>
            <a:r>
              <a:t>Hardware war Bestandshardware, Software komplett Open Source, daher keine Lizenzkosten.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Antrag und Ist-Analyse ergeben sich funktionale und nicht-funktionale Anforderungen, links die wichtigsten.</a:t>
            </a:r>
          </a:p>
          <a:p>
            <a:r>
              <a:t>Bei der Wirtschaftlichkeit: rund 1.600 Euro Projektkosten, im Wesentlichen Arbeitszeit, da Hardware und Software nichts kosten.</a:t>
            </a:r>
          </a:p>
          <a:p>
            <a:r>
              <a:t>Der Nutzen rechts: deutlich schnellere Restores, zentrale Verwaltung, Integritätsprüfung. Ein einziger vermiedener langer Restore amortisiert das 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die vier zentralen Entscheidungen, jeweils mit Begründung.</a:t>
            </a:r>
          </a:p>
          <a:p>
            <a:r>
              <a:t>PBS statt Veeam oder Bacula: vom Auftraggeber vorgegeben, keine Lizenzkosten, nativ in PVE integriert.</a:t>
            </a:r>
          </a:p>
          <a:p>
            <a:r>
              <a:t>IBM x3755: Bestandshardware, keine Beschaffung nötig.</a:t>
            </a:r>
          </a:p>
          <a:p>
            <a:r>
              <a:t>Hardware-RAID 5 statt ZFS: der Server kann nur Hardware-RAID, ZFS bräuchte direkten Disk-Zugriff. Bei neuer Hardware wäre ZFS die bevorzugte Lösung.</a:t>
            </a:r>
          </a:p>
          <a:p>
            <a:r>
              <a:t>ext4: folgt zwingend aus der RAID-Entscheidung, Integrität wird über den PBS-Verify-Job sichergestellt.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Architektur: der PBS hängt im server-VLAN am PVE-Cluster, angebunden über zwei gebündelte 10-Gigabit-Leitungen.</a:t>
            </a:r>
          </a:p>
          <a:p>
            <a:r>
              <a:t>Authentifizierung über das DKFZ-LDAP plus lokaler root für den Notfall.</a:t>
            </a:r>
          </a:p>
          <a:p>
            <a:r>
              <a:t>Monitoring über pbs-exporter und Prometheus, Benachrichtigung per E-Mail.</a:t>
            </a:r>
          </a:p>
          <a:p>
            <a:r>
              <a:t>Backup-Konzept unten: zwei Klassen, beide zweimal täglich, die letzten drei Sicherungen werden aufbewahrt.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Umsetzung in vier Schritten.</a:t>
            </a:r>
          </a:p>
          <a:p>
            <a:r>
              <a:t>Erst Hardware vorbereiten: RAID-Controller und Netzwerkkarte, hier gab es Mehraufwand durch den RAID-Controller.</a:t>
            </a:r>
          </a:p>
          <a:p>
            <a:r>
              <a:t>Dann PBS installieren und grundkonfigurieren.</a:t>
            </a:r>
          </a:p>
          <a:p>
            <a:r>
              <a:t>Datastore anlegen und LDAP anbinden.</a:t>
            </a:r>
          </a:p>
          <a:p>
            <a:r>
              <a:t>Zuletzt Integration in den PVE-Cluster und Einrichtung der Backup-Jobs, vorher mit einem Test-Backup geprüft.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Tests gegen das Backup-Konzept wurden erfolgreich durchlaufen: Backup-Job, LDAP-Login, E-Mail, Monitoring, Storage-Trennung.</a:t>
            </a:r>
          </a:p>
          <a:p>
            <a:r>
              <a:t>Besonders wichtig die Restore-Tests: einzelne Dateien, ganze VM und Container, alle erfolgreich.</a:t>
            </a:r>
          </a:p>
          <a:p>
            <a:r>
              <a:t>Integritätsprüfung über den Verify-Job bestanden.</a:t>
            </a:r>
          </a:p>
          <a:p>
            <a:r>
              <a:t>Abnahme wurde von Frank Thommen erteilt, Restores deutlich schneller als über 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Soll-Ist-Vergleich: insgesamt 34,5 statt 40 Stunden, also leicht unter Budget.</a:t>
            </a:r>
          </a:p>
          <a:p>
            <a:r>
              <a:t>Mehraufwand bei Beschaffung und Installation, dafür schneller bei Konfiguration und Anbindung, weil PBS und PVE gut toolunterstützt sind.</a:t>
            </a:r>
          </a:p>
          <a:p>
            <a:r>
              <a:t>Lessons Learned unten: frühe Netzwerk-Abstimmung wichtig, Altbestands-Hardware begrenzt die Dateisystemwahl, gute Betriebsdoku ist genauso wertvoll wie die Umsetzung.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Ausblick in drei Horizonten.</a:t>
            </a:r>
          </a:p>
          <a:p>
            <a:r>
              <a:t>Kurzfristig: produktive Instanz auf Basis des Blueprints und schrittweise Migration.</a:t>
            </a:r>
          </a:p>
          <a:p>
            <a:r>
              <a:t>Mittelfristig: Off-Site-Replikation und Ablösung der Tape-Sicherung.</a:t>
            </a:r>
          </a:p>
          <a:p>
            <a:r>
              <a:t>Langfristig: vollautomatisiertes Monitoring und regelmäßige Restore-Tests als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Kurze Zusammenfassung der Kernpunkte: Ziel erreicht, alle Tests bestanden, im Zeitrahmen geblieben, Dokumentation vollständig, klarer Mehrwert für die ODCF.</a:t>
            </a:r>
          </a:p>
          <a:p>
            <a:r>
              <a:t>Überleitung: damit ist die Basis für den späteren Produktivgang gelegt.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Dank für die Aufmerksamkeit und Überleitung zum Fachgespräch.</a:t>
            </a:r>
          </a:p>
          <a:p>
            <a:r>
              <a:t>Anbieten, auf Fragen einzugehen, zum Beispiel zu Backup-Konzept, RAID gegen ZFS oder zur LDAP-Anbindung.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3200" cy="192024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93200" cy="3810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288000"/>
            <a:ext cx="2880000" cy="5287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007999"/>
            <a:ext cx="1111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ED9"/>
                </a:solidFill>
                <a:latin typeface="Arial"/>
              </a:rPr>
              <a:t>Abschlusspräsentation: Betriebliche Projektarbeit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368000"/>
            <a:ext cx="111132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Einrichtung eines dedizierten
Proxmox Backup Servers
bei der ODCF am DKFZ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220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3"/>
                </a:solidFill>
                <a:latin typeface="Arial"/>
              </a:rPr>
              <a:t>Johannes Nguyen  |  Fachinformatiker Systemintegration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544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DKFZ: Deutsches Krebsforschungszentrum  |  IHK Rhein-Neckar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Gliederung</a:t>
            </a:r>
          </a:p>
        </p:txBody>
      </p:sp>
      <p:pic>
        <p:nvPicPr>
          <p:cNvPr id="5" name="Picture 4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026000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026000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1026000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Technologischer Hintergrund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18545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1518545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000" y="1518545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Unternehmen und Projektumfeld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011090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2011090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000" y="2011090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Ausgangssituation und Projektziel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503636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503636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000" y="2503636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Projektplanung und Zeitrahmen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2996181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2996181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000" y="2996181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Analysephase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3488726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3488726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000" y="3488726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Begründete Entscheidungen: Warum diese Lösung?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3981272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3981272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000" y="3981272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Entwurfsphase: Architektur und Backup-Konzept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4473817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4473817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4000" y="4473817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Implementierungsphase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" y="4966362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000" y="4966362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4000" y="4966362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Abnahme und Tests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5458908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000" y="5458908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000" y="5458908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Fazit und Soll-Ist-Vergleich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00" y="5951453"/>
            <a:ext cx="576000" cy="36940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0" y="5951453"/>
            <a:ext cx="5760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000" y="5951453"/>
            <a:ext cx="10753200" cy="36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C2E"/>
                </a:solidFill>
                <a:latin typeface="Arial"/>
              </a:rPr>
              <a:t>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Technologischer Hintergrund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40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ED9"/>
                </a:solidFill>
                <a:latin typeface="Arial"/>
              </a:rPr>
              <a:t>01</a:t>
            </a:r>
          </a:p>
        </p:txBody>
      </p:sp>
      <p:pic>
        <p:nvPicPr>
          <p:cNvPr id="6" name="Picture 5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88000"/>
            <a:ext cx="2733300" cy="2592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216800"/>
            <a:ext cx="25893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Proxmox VE (PVE)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447200"/>
            <a:ext cx="2733300" cy="280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15192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Open-Source-Virtualisierungsplattform auf Basis von Debian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" y="24168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Verwaltet VMs (KVM) und Container (LXC) im Cluster-Betrieb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33144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Bei der ODCF: 6 Hypervisor-Knoten, ~60 VMs + LXC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300" y="1188000"/>
            <a:ext cx="2733300" cy="259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1300" y="1216800"/>
            <a:ext cx="25893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Proxmox Backup Server (PBS)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300" y="1447200"/>
            <a:ext cx="2733300" cy="280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7300" y="15192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Hauseigene Backup-Lösung von Proxmox, nativ in PVE integriert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7300" y="24168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Inkrementelle Sicherungen mit clientseitiger Deduplizierung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7300" y="33144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Integritätsprüfung via Prüfsummen-Verify-Jobs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6600" y="1188000"/>
            <a:ext cx="2733300" cy="25920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4600" y="1216800"/>
            <a:ext cx="25893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Ceph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6600" y="1447200"/>
            <a:ext cx="2733300" cy="280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0600" y="15192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Verteiltes Open-Source-Storage-System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0600" y="24168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Primär-Storage-Backend des PVE-Clusters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0600" y="33144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Brutto-Kapazität: ~44 TB, davon ~6 TB belegt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9900" y="1188000"/>
            <a:ext cx="2733300" cy="259200"/>
          </a:xfrm>
          <a:prstGeom prst="rect">
            <a:avLst/>
          </a:prstGeom>
          <a:solidFill>
            <a:srgbClr val="008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7900" y="1216800"/>
            <a:ext cx="25893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Hardware-RAID vs. ZFS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9900" y="1447200"/>
            <a:ext cx="2733300" cy="280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3900" y="15192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Hardware-RAID: RAID-Controller übernimmt Parität (RAID 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3900" y="24168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ZFS: Software-Stack mit direktem Disk-Zugriff (HBA nötig)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3900" y="3314400"/>
            <a:ext cx="2517300" cy="93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IBM x3755 M3 besitzt nur Hardware-RAID-Controller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8000"/>
          </a:xfrm>
          <a:prstGeom prst="rect">
            <a:avLst/>
          </a:prstGeom>
          <a:solidFill>
            <a:srgbClr val="009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493200" cy="522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Unternehmen und Projektumfeld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76000"/>
            <a:ext cx="9493200" cy="306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009ED9"/>
                </a:solidFill>
                <a:latin typeface="Arial"/>
              </a:rPr>
              <a:t>02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42001"/>
            <a:ext cx="107532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42001"/>
            <a:ext cx="11520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16000"/>
            <a:ext cx="5646600" cy="2592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16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DKFZ: Deutsches Krebsforschungszentrum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375200"/>
            <a:ext cx="5646600" cy="2044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999" y="14292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Größte biomedizinische Forschungseinrichtung Deutschlands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999" y="19134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Standort: Heidelberg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999" y="23976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Forschung zu Krebsentstehung und -bekämpfung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999" y="28818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Komplexe IT-Infrastruktur für genomische Daten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6600" y="1116000"/>
            <a:ext cx="5646600" cy="259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4600" y="1116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ODCF: Omics IT and Data Management Core Facility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6600" y="1375200"/>
            <a:ext cx="5646600" cy="2044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2599" y="14292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Interner IT-Dienstleister des DKFZ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2599" y="19134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Hochleistungs-Compute-Cluster (IBM LSF)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2599" y="23976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PVE-Cluster: 6 Hypervisor-Knoten, ~60 VMs + LXC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2599" y="2881800"/>
            <a:ext cx="5430600" cy="484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Auftraggeber: Frank Thommen (ODCF)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3671999"/>
            <a:ext cx="11473200" cy="288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000" y="3671999"/>
            <a:ext cx="11329200" cy="288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Projektrahmen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3959999"/>
            <a:ext cx="11473200" cy="1727999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00" y="3959999"/>
            <a:ext cx="2520000" cy="575999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800" b="1">
                <a:solidFill>
                  <a:srgbClr val="003F72"/>
                </a:solidFill>
                <a:latin typeface="Arial"/>
              </a:rPr>
              <a:t>Projektart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0000" y="3959999"/>
            <a:ext cx="8449200" cy="575999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Arial"/>
              </a:rPr>
              <a:t>Internes Projekt, Auftraggeber = Auftragnehmer (DKFZ)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535998"/>
            <a:ext cx="2520000" cy="575999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800" b="1">
                <a:solidFill>
                  <a:srgbClr val="003F72"/>
                </a:solidFill>
                <a:latin typeface="Arial"/>
              </a:rPr>
              <a:t>Ausbildungsberuf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0" y="4535998"/>
            <a:ext cx="8449200" cy="575999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Arial"/>
              </a:rPr>
              <a:t>Fachinformatiker Systemintegration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5111998"/>
            <a:ext cx="2520000" cy="575999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800" b="1">
                <a:solidFill>
                  <a:srgbClr val="003F72"/>
                </a:solidFill>
                <a:latin typeface="Arial"/>
              </a:rPr>
              <a:t>Zeitrahmen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0000" y="5111998"/>
            <a:ext cx="8449200" cy="575999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800" b="0">
                <a:solidFill>
                  <a:srgbClr val="1C1C2E"/>
                </a:solidFill>
                <a:latin typeface="Arial"/>
              </a:rPr>
              <a:t>40 Stunden, Bearbeitungszeitraum bis 30.04.2026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8000"/>
          </a:xfrm>
          <a:prstGeom prst="rect">
            <a:avLst/>
          </a:prstGeom>
          <a:solidFill>
            <a:srgbClr val="009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493200" cy="522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Ausgangssituation und Projektziel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76000"/>
            <a:ext cx="9493200" cy="306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009ED9"/>
                </a:solidFill>
                <a:latin typeface="Arial"/>
              </a:rPr>
              <a:t>03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131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42001"/>
            <a:ext cx="107532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42001"/>
            <a:ext cx="11520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5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70000"/>
            <a:ext cx="180000" cy="1800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999" y="1116000"/>
            <a:ext cx="4944601" cy="288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600" b="1">
                <a:solidFill>
                  <a:srgbClr val="CC3333"/>
                </a:solidFill>
                <a:latin typeface="Arial"/>
              </a:rPr>
              <a:t>IST-Zustand: Probleme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786200"/>
            <a:ext cx="144000" cy="1440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548000"/>
            <a:ext cx="4872600" cy="60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Backup nur auf lokalem Hypervisor-Storage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2392200"/>
            <a:ext cx="144000" cy="1440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" y="2154000"/>
            <a:ext cx="4872600" cy="60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Dell-VxRail-Knoten: kein lokaler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" y="2998200"/>
            <a:ext cx="144000" cy="1440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00" y="2760000"/>
            <a:ext cx="4872600" cy="60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Primär- und Sicherungsdaten gemeinsam abgelegt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" y="3604200"/>
            <a:ext cx="144000" cy="1440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" y="3366000"/>
            <a:ext cx="4872600" cy="60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Keine zentrale Verwaltung und Überwachung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144000" cy="1440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" y="3972000"/>
            <a:ext cx="4872600" cy="60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Keine automatische Integritätsprüfung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4816200"/>
            <a:ext cx="144000" cy="1440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00" y="4578000"/>
            <a:ext cx="4872600" cy="60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Restore aus TSM/Tape: aufwändig und langsam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6600" y="1170000"/>
            <a:ext cx="180000" cy="180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8599" y="1116000"/>
            <a:ext cx="4944601" cy="288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600" b="1">
                <a:solidFill>
                  <a:srgbClr val="009E73"/>
                </a:solidFill>
                <a:latin typeface="Arial"/>
              </a:rPr>
              <a:t>Projektziel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2600" y="1742914"/>
            <a:ext cx="144000" cy="144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6600" y="1548000"/>
            <a:ext cx="4872600" cy="519428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Dedizierter PBS auf eigener Hardware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2600" y="2262342"/>
            <a:ext cx="144000" cy="144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6600" y="2067428"/>
            <a:ext cx="4872600" cy="519428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Anbindung an gesamten PVE-Cluster (6 Knoten)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2600" y="2781771"/>
            <a:ext cx="144000" cy="144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6600" y="2586857"/>
            <a:ext cx="4872600" cy="519428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Inkrementelle Backups mit Deduplizierung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2600" y="3301200"/>
            <a:ext cx="144000" cy="144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6600" y="3106285"/>
            <a:ext cx="4872600" cy="519428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Retention Policies (kritisch / Test)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2600" y="3820628"/>
            <a:ext cx="144000" cy="144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6600" y="3625714"/>
            <a:ext cx="4872600" cy="519428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Zentrales Monitoring via Prometheus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2600" y="4340057"/>
            <a:ext cx="144000" cy="144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6600" y="4145142"/>
            <a:ext cx="4872600" cy="519428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E-Mail-Benachrichtigung bei Fehlern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2600" y="4859485"/>
            <a:ext cx="144000" cy="144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6600" y="4664571"/>
            <a:ext cx="4872600" cy="519428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0">
                <a:solidFill>
                  <a:srgbClr val="1C1C2E"/>
                </a:solidFill>
                <a:latin typeface="Arial"/>
              </a:rPr>
              <a:t>Betriebsdokumentation für das ODCF-Team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00600" y="2988000"/>
            <a:ext cx="792000" cy="540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ctr"/>
            <a:r>
              <a:rPr sz="4400" b="1">
                <a:solidFill>
                  <a:srgbClr val="009ED9"/>
                </a:solidFill>
                <a:latin typeface="Arial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0000" y="5364000"/>
            <a:ext cx="11473200" cy="108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000" y="5436000"/>
            <a:ext cx="11473200" cy="288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</a:rPr>
              <a:t>Scope: Blueprint-Testinstanz als Referenz für den späteren Produktivgang, kein Ersatz der bisherigen TSM/Tape-Sicherung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Projektplanung und Zeitrahmen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40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ED9"/>
                </a:solidFill>
                <a:latin typeface="Arial"/>
              </a:rPr>
              <a:t>04</a:t>
            </a:r>
          </a:p>
        </p:txBody>
      </p:sp>
      <p:pic>
        <p:nvPicPr>
          <p:cNvPr id="6" name="Picture 5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6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134000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0"/>
                </a:solidFill>
                <a:latin typeface="Arial"/>
              </a:rPr>
              <a:t>Gesamtbudget: 40 Stunden  |  max. 8 h Dokumentation  |  Iteratives Vorgehen mit Abstimmungsschleifen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512000"/>
            <a:ext cx="1617428" cy="503999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548000"/>
            <a:ext cx="1567028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Analyse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1771200"/>
            <a:ext cx="1567028" cy="198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6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9028" y="1512000"/>
            <a:ext cx="1617428" cy="503999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5028" y="1548000"/>
            <a:ext cx="1567028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Entwurf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5028" y="1771200"/>
            <a:ext cx="1567028" cy="198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6 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8057" y="1512000"/>
            <a:ext cx="1071085" cy="503999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4057" y="1548000"/>
            <a:ext cx="1020685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Beschaffung/Vorb.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057" y="1771200"/>
            <a:ext cx="1020685" cy="198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4 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0742" y="1512000"/>
            <a:ext cx="1071085" cy="503999"/>
          </a:xfrm>
          <a:prstGeom prst="rect">
            <a:avLst/>
          </a:prstGeom>
          <a:solidFill>
            <a:srgbClr val="008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6742" y="1548000"/>
            <a:ext cx="1020685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PBS-Installation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6742" y="1771200"/>
            <a:ext cx="1020685" cy="198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4 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23428" y="1512000"/>
            <a:ext cx="2163771" cy="503999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9428" y="1548000"/>
            <a:ext cx="2113371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Konfiguration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9428" y="1771200"/>
            <a:ext cx="2113371" cy="198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8 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8800" y="1512000"/>
            <a:ext cx="1071085" cy="503999"/>
          </a:xfrm>
          <a:prstGeom prst="rect">
            <a:avLst/>
          </a:prstGeom>
          <a:solidFill>
            <a:srgbClr val="5B9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4800" y="1548000"/>
            <a:ext cx="1020685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Abnahme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4800" y="1771200"/>
            <a:ext cx="1020685" cy="198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4 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1485" y="1512000"/>
            <a:ext cx="524742" cy="503999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9485" y="1548000"/>
            <a:ext cx="510342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7828" y="1512000"/>
            <a:ext cx="2163771" cy="503999"/>
          </a:xfrm>
          <a:prstGeom prst="rect">
            <a:avLst/>
          </a:prstGeom>
          <a:solidFill>
            <a:srgbClr val="7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>
            <a:norm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828" y="1548000"/>
            <a:ext cx="2113371" cy="216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Dokumentation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828" y="1771200"/>
            <a:ext cx="2113371" cy="1980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8 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2267998"/>
            <a:ext cx="3780000" cy="2592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000" y="2296798"/>
            <a:ext cx="363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Hardware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2527198"/>
            <a:ext cx="3780000" cy="172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" y="25991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IBM System x3755 M3 (Bestandshardware)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" y="30023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32 Kerne AMD Opteron  |  32 GB 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000" y="34055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6 × 4 TB HDD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000" y="38087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RAID 1 (System) + RAID 5 (Datastore ~20 TB)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0" y="2267998"/>
            <a:ext cx="3780000" cy="259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28000" y="2296798"/>
            <a:ext cx="36360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Software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0000" y="2527198"/>
            <a:ext cx="3780000" cy="172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4000" y="25991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PBS 4 (AGPLv3: keine Lizenzkosten)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4000" y="30023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Debian Linux als Basis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4000" y="34055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ext4-Dateisystem auf HW-RAID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4000" y="3808798"/>
            <a:ext cx="3564000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Prometheus + pbs-exporter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80000" y="2267998"/>
            <a:ext cx="3517200" cy="259200"/>
          </a:xfrm>
          <a:prstGeom prst="rect">
            <a:avLst/>
          </a:prstGeom>
          <a:solidFill>
            <a:srgbClr val="7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88000" y="2296798"/>
            <a:ext cx="3373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Personal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80000" y="2527198"/>
            <a:ext cx="3517200" cy="172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24000" y="2599198"/>
            <a:ext cx="3301200" cy="5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Prüfling: Johannes Nguyen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4000" y="3136798"/>
            <a:ext cx="3301200" cy="5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Betreuer: Frank Thommen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24000" y="3674398"/>
            <a:ext cx="3301200" cy="5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Übergabe: Stefan Becker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8000"/>
          </a:xfrm>
          <a:prstGeom prst="rect">
            <a:avLst/>
          </a:prstGeom>
          <a:solidFill>
            <a:srgbClr val="009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493200" cy="522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Analysephase: Anforderungen und Wirtschaftlichkeit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76000"/>
            <a:ext cx="9493200" cy="306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009ED9"/>
                </a:solidFill>
                <a:latin typeface="Arial"/>
              </a:rPr>
              <a:t>05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42001"/>
            <a:ext cx="107532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42001"/>
            <a:ext cx="11520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7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16000"/>
            <a:ext cx="5646600" cy="2592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16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Funktionale Anforderungen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375200"/>
            <a:ext cx="5646600" cy="1900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5999" y="1429200"/>
            <a:ext cx="5430600" cy="298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Dedizierter PBS auf eigener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999" y="1728000"/>
            <a:ext cx="5430600" cy="298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Sicherung aller ~60 VMs und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999" y="2026800"/>
            <a:ext cx="5430600" cy="298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Backup-Jobs mit Zeitplan und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999" y="2325600"/>
            <a:ext cx="5430600" cy="298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Benachrichtigung bei Fehlschlägen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999" y="2624400"/>
            <a:ext cx="5430600" cy="298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Anbindung an Prometheus-Monitoring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999" y="2923200"/>
            <a:ext cx="5430600" cy="298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File- und vollständiger VM-Restore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6600" y="1116000"/>
            <a:ext cx="5646600" cy="259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4600" y="1116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Nicht-funktionale Anforderungen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600" y="1375200"/>
            <a:ext cx="5646600" cy="1900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2599" y="1429200"/>
            <a:ext cx="5430600" cy="35856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Trennung Primär- und Sicherungs-Storage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2599" y="1787760"/>
            <a:ext cx="5430600" cy="35856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LDAP-Authentifizierung (DKFZ AD)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2599" y="2146320"/>
            <a:ext cx="5430600" cy="35856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Open-Source, keine Lizenzkosten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599" y="2504880"/>
            <a:ext cx="5430600" cy="35856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Integration in bestehendes VLAN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2599" y="2863440"/>
            <a:ext cx="5430600" cy="35856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▸  Notfallzugang via lokalem root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3401999"/>
            <a:ext cx="11473200" cy="234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500" b="1">
                <a:solidFill>
                  <a:srgbClr val="003F72"/>
                </a:solidFill>
                <a:latin typeface="Arial"/>
              </a:rPr>
              <a:t>Wirtschaftlichkeitsbetrachtung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3671999"/>
            <a:ext cx="6840000" cy="2952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000" y="3671999"/>
            <a:ext cx="295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2000" y="3671999"/>
            <a:ext cx="22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Basis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2000" y="3671999"/>
            <a:ext cx="13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Kosten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3967199"/>
            <a:ext cx="6840000" cy="295200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2000" y="3967199"/>
            <a:ext cx="295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Personalkosten Prüfling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2000" y="3967199"/>
            <a:ext cx="22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40 h x ~25 EUR/h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2000" y="3967199"/>
            <a:ext cx="13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~1.000 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4262399"/>
            <a:ext cx="6840000" cy="29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000" y="4262399"/>
            <a:ext cx="295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Betreuung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92000" y="4262399"/>
            <a:ext cx="22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5 h x ~80 EUR/h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2000" y="4262399"/>
            <a:ext cx="13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~400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4557599"/>
            <a:ext cx="6840000" cy="295200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000" y="4557599"/>
            <a:ext cx="295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Hardware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2000" y="4557599"/>
            <a:ext cx="22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IBM x3755 (Bestand)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2000" y="4557599"/>
            <a:ext cx="13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0 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000" y="4852799"/>
            <a:ext cx="6840000" cy="29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000" y="4852799"/>
            <a:ext cx="295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92000" y="4852799"/>
            <a:ext cx="22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PBS (AGPLv3)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2000" y="4852799"/>
            <a:ext cx="13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0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000" y="5147999"/>
            <a:ext cx="6840000" cy="295200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2000" y="5147999"/>
            <a:ext cx="295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Betriebskosten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92000" y="5147999"/>
            <a:ext cx="22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Strom / Stellplatz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2000" y="5147999"/>
            <a:ext cx="13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~200 EUR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000" y="5443199"/>
            <a:ext cx="6840000" cy="295200"/>
          </a:xfrm>
          <a:prstGeom prst="rect">
            <a:avLst/>
          </a:prstGeom>
          <a:solidFill>
            <a:srgbClr val="131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000" y="5443199"/>
            <a:ext cx="295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Gesamt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92000" y="5443199"/>
            <a:ext cx="22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32000" y="5443199"/>
            <a:ext cx="1332000" cy="295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~1.600 EUR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80000" y="3671999"/>
            <a:ext cx="4453200" cy="259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88000" y="3671999"/>
            <a:ext cx="43092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Nutzen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80000" y="3931199"/>
            <a:ext cx="4453200" cy="18072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5999" y="3985199"/>
            <a:ext cx="4237200" cy="424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0">
                <a:solidFill>
                  <a:srgbClr val="1C1C2E"/>
                </a:solidFill>
                <a:latin typeface="Arial"/>
              </a:rPr>
              <a:t>▸  Schnellere Restores (Minuten statt Stunden)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05999" y="4409999"/>
            <a:ext cx="4237200" cy="424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0">
                <a:solidFill>
                  <a:srgbClr val="1C1C2E"/>
                </a:solidFill>
                <a:latin typeface="Arial"/>
              </a:rPr>
              <a:t>▸  Zentrale Verwaltung aller Backups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05999" y="4834799"/>
            <a:ext cx="4237200" cy="424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0">
                <a:solidFill>
                  <a:srgbClr val="1C1C2E"/>
                </a:solidFill>
                <a:latin typeface="Arial"/>
              </a:rPr>
              <a:t>▸  Automatische Integritätsprüfung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05999" y="5259599"/>
            <a:ext cx="4237200" cy="4248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0">
                <a:solidFill>
                  <a:srgbClr val="1C1C2E"/>
                </a:solidFill>
                <a:latin typeface="Arial"/>
              </a:rPr>
              <a:t>▸  Keine Lizenzkosten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8000"/>
          </a:xfrm>
          <a:prstGeom prst="rect">
            <a:avLst/>
          </a:prstGeom>
          <a:solidFill>
            <a:srgbClr val="009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493200" cy="522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Begründete Entscheidungen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76000"/>
            <a:ext cx="9493200" cy="306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009ED9"/>
                </a:solidFill>
                <a:latin typeface="Arial"/>
              </a:rPr>
              <a:t>06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42001"/>
            <a:ext cx="107532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42001"/>
            <a:ext cx="11520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080000"/>
            <a:ext cx="5646600" cy="2592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80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PBS statt Veeam / Bacula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339200"/>
            <a:ext cx="5646600" cy="2386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000" y="1422000"/>
            <a:ext cx="1872000" cy="216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1422000"/>
            <a:ext cx="1800000" cy="21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Beauftragt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2000" y="2003400"/>
            <a:ext cx="115200" cy="1152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1746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Vom Auftraggeber vorgegeben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000" y="2633400"/>
            <a:ext cx="115200" cy="1152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2376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Keine Lizenzkosten (AGPLv3)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000" y="3263400"/>
            <a:ext cx="115200" cy="1152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3006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Nativ in PVE integriert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6600" y="1080000"/>
            <a:ext cx="5646600" cy="259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4600" y="1080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IBM x3755 M3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6600" y="1339200"/>
            <a:ext cx="5646600" cy="2386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0600" y="1422000"/>
            <a:ext cx="1872000" cy="2160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6600" y="1422000"/>
            <a:ext cx="1800000" cy="21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Bestandshardware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48600" y="2003400"/>
            <a:ext cx="115200" cy="115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6600" y="1746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Altbestand, keine Beschaffung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8600" y="2633400"/>
            <a:ext cx="115200" cy="115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6600" y="2376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32 Kerne / 32 GB 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8600" y="3263400"/>
            <a:ext cx="115200" cy="115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6600" y="3006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~20 TB Datastore (RAID 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3798000"/>
            <a:ext cx="5646600" cy="259200"/>
          </a:xfrm>
          <a:prstGeom prst="rect">
            <a:avLst/>
          </a:prstGeom>
          <a:solidFill>
            <a:srgbClr val="00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000" y="3798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Hardware-RAID 5 statt ZFS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4057200"/>
            <a:ext cx="5646600" cy="2386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000" y="4140000"/>
            <a:ext cx="1872000" cy="216000"/>
          </a:xfrm>
          <a:prstGeom prst="rect">
            <a:avLst/>
          </a:prstGeom>
          <a:solidFill>
            <a:srgbClr val="00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4140000"/>
            <a:ext cx="1800000" cy="21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Hardware-Vorgabe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2000" y="4721400"/>
            <a:ext cx="115200" cy="115200"/>
          </a:xfrm>
          <a:prstGeom prst="rect">
            <a:avLst/>
          </a:prstGeom>
          <a:solidFill>
            <a:srgbClr val="00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000" y="4464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Server kann nur Hardware-RAID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2000" y="5351400"/>
            <a:ext cx="115200" cy="115200"/>
          </a:xfrm>
          <a:prstGeom prst="rect">
            <a:avLst/>
          </a:prstGeom>
          <a:solidFill>
            <a:srgbClr val="00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0000" y="5094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ZFS braucht direkten Disk-Zugriff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000" y="5981400"/>
            <a:ext cx="115200" cy="115200"/>
          </a:xfrm>
          <a:prstGeom prst="rect">
            <a:avLst/>
          </a:prstGeom>
          <a:solidFill>
            <a:srgbClr val="00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000" y="5724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ZFS bevorzugt bei neuer Hardware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6600" y="3798000"/>
            <a:ext cx="5646600" cy="259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4600" y="3798000"/>
            <a:ext cx="5502600" cy="2592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ext4 als Dateisystem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6600" y="4057200"/>
            <a:ext cx="5646600" cy="2386800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0600" y="4140000"/>
            <a:ext cx="1872000" cy="216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6600" y="4140000"/>
            <a:ext cx="1800000" cy="216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Folgt aus RAID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48600" y="4721400"/>
            <a:ext cx="115200" cy="115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6600" y="4464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ZFS technisch nicht möglich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8600" y="5351400"/>
            <a:ext cx="115200" cy="115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46600" y="5094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Vom PBS offiziell unterstützt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48600" y="5981400"/>
            <a:ext cx="115200" cy="115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46600" y="5724000"/>
            <a:ext cx="5178600" cy="630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400" b="0">
                <a:solidFill>
                  <a:srgbClr val="1C1C2E"/>
                </a:solidFill>
                <a:latin typeface="Arial"/>
              </a:rPr>
              <a:t>Integrität via PBS-Verify-Job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Entwurfsphase: Systemarchitektur und Backup-Konzept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40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ED9"/>
                </a:solidFill>
                <a:latin typeface="Arial"/>
              </a:rPr>
              <a:t>07</a:t>
            </a:r>
          </a:p>
        </p:txBody>
      </p:sp>
      <p:pic>
        <p:nvPicPr>
          <p:cNvPr id="6" name="Picture 5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9 / 15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152000"/>
            <a:ext cx="6120000" cy="430967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660000" y="1152000"/>
            <a:ext cx="5173200" cy="2592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8000" y="1180800"/>
            <a:ext cx="5029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Hardware &amp; Netzwerk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0000" y="1411200"/>
            <a:ext cx="5173200" cy="1108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4000" y="1483200"/>
            <a:ext cx="4957200" cy="2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IBM x3755 M3 im Rack14 (ODCF-RZ)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4000" y="1733400"/>
            <a:ext cx="4957200" cy="2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2×10 GbE SFP-Karte, LACP bond0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4000" y="1983600"/>
            <a:ext cx="4957200" cy="2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IP: 10.131.196.78 (server-VLAN)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4000" y="2233800"/>
            <a:ext cx="4957200" cy="2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WebUI: https://odcf-fs04:8007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0000" y="2592000"/>
            <a:ext cx="5173200" cy="259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8000" y="2620800"/>
            <a:ext cx="5029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Authentifizierung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0000" y="2851200"/>
            <a:ext cx="5173200" cy="928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4000" y="2923200"/>
            <a:ext cx="49572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LDAP (LDAPS:636) → ODCF-SysAdmins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4000" y="3196800"/>
            <a:ext cx="49572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Lokaler root für Notfall/Automation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4000" y="3470400"/>
            <a:ext cx="49572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Passwort im Bitwarden-Tresor (ODCF)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0000" y="3852000"/>
            <a:ext cx="5173200" cy="259200"/>
          </a:xfrm>
          <a:prstGeom prst="rect">
            <a:avLst/>
          </a:prstGeom>
          <a:solidFill>
            <a:srgbClr val="008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8000" y="3880800"/>
            <a:ext cx="50292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0000" y="4111200"/>
            <a:ext cx="5173200" cy="964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4000" y="4183200"/>
            <a:ext cx="4957200" cy="3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pbs-exporter → Prometheus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4000" y="4468800"/>
            <a:ext cx="4957200" cy="3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E-Mail via DKFZ-SMTP-Relay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4000" y="4754400"/>
            <a:ext cx="4957200" cy="3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▸  Wöchentlicher Verify-Job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000" y="5220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F72"/>
                </a:solidFill>
                <a:latin typeface="Arial"/>
              </a:rPr>
              <a:t>Backup-Konzept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5471999"/>
            <a:ext cx="11473200" cy="2448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5507999"/>
            <a:ext cx="241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VM-Klasse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2000" y="5507999"/>
            <a:ext cx="187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Frequenz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4000" y="5507999"/>
            <a:ext cx="169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Retention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6000" y="5507999"/>
            <a:ext cx="277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Restore-Quelle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5716799"/>
            <a:ext cx="11473200" cy="244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000" y="5752799"/>
            <a:ext cx="241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Kritisch (SOP-pflichtig)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2000" y="5752799"/>
            <a:ext cx="187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2 × täglich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4000" y="5752799"/>
            <a:ext cx="169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keep-last =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6000" y="5752799"/>
            <a:ext cx="277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PBS Datastore + Tape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0000" y="5961599"/>
            <a:ext cx="11473200" cy="244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000" y="5997599"/>
            <a:ext cx="241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Test-VMs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42000" y="5997599"/>
            <a:ext cx="187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2 × täglich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4000" y="5997599"/>
            <a:ext cx="169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keep-last =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6000" y="5997599"/>
            <a:ext cx="2772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PBS Datastore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Implementierungsphase: Umsetzung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40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ED9"/>
                </a:solidFill>
                <a:latin typeface="Arial"/>
              </a:rPr>
              <a:t>08</a:t>
            </a:r>
          </a:p>
        </p:txBody>
      </p:sp>
      <p:pic>
        <p:nvPicPr>
          <p:cNvPr id="6" name="Picture 5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10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52000"/>
            <a:ext cx="5646600" cy="2592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180800"/>
            <a:ext cx="55026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1  Beschaffung und Vorbereitung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411200"/>
            <a:ext cx="5646600" cy="1432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14832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IBM x3755 M3 → Rack14, RAID-Controller konfiguriert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" y="18144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SFP-Karte eingebaut, LACP bond0 (802.3ad, layer3+4)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21456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Verkabelung Rack14/16 → Cisco-Switch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24768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Zeitaufwand: ~6 h (RAID-Komplikationen +2 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6600" y="1152000"/>
            <a:ext cx="5646600" cy="259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4600" y="1180800"/>
            <a:ext cx="55026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2  PBS-Installation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6600" y="1411200"/>
            <a:ext cx="5646600" cy="1432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0600" y="14832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PBS 4 ISO-Installation, Hostname odcf-fs04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0600" y="18144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pbs-no-subscription-Repo, vollständiges apt-Upgrade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0600" y="21456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DNS-Eintrag, NTP-Sync auf DKFZ-Zeitserver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0600" y="24768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Zeitaufwand: ~5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2952000"/>
            <a:ext cx="5646600" cy="259200"/>
          </a:xfrm>
          <a:prstGeom prst="rect">
            <a:avLst/>
          </a:prstGeom>
          <a:solidFill>
            <a:srgbClr val="008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000" y="2980800"/>
            <a:ext cx="55026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3  Datastore und LDAP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3211200"/>
            <a:ext cx="5646600" cy="1432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00" y="32832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ext4 auf RAID 5 → /mnt/datastore/backup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000" y="36144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PBS-Datastore 'backup' angelegt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000" y="39456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DKFZ-LDAP (LDAPS:636) → ODCF-SysAdmins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000" y="42768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Wöchentlicher Verify-Job eingerichtet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6600" y="2952000"/>
            <a:ext cx="5646600" cy="25920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4600" y="2980800"/>
            <a:ext cx="55026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4  PVE-Integration und Backup-Jobs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6600" y="3211200"/>
            <a:ext cx="5646600" cy="1432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0600" y="32832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PBS als Storage im PVE-Cluster eingebunden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0600" y="36144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Authentifizierung: root-PW + TLS-Fingerprint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0600" y="39456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Backup-Jobs: 2×täglich, keep-last=3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0600" y="4276800"/>
            <a:ext cx="5430600" cy="36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▸  Manueller Test-Backup vor Produktivgang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Abnahme und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40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ED9"/>
                </a:solidFill>
                <a:latin typeface="Arial"/>
              </a:rPr>
              <a:t>09</a:t>
            </a:r>
          </a:p>
        </p:txBody>
      </p:sp>
      <p:pic>
        <p:nvPicPr>
          <p:cNvPr id="6" name="Picture 5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16000"/>
            <a:ext cx="11473200" cy="288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116000"/>
            <a:ext cx="24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2000" y="1116000"/>
            <a:ext cx="78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Ergebnis / Beschreibung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34000" y="1116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404000"/>
            <a:ext cx="11473200" cy="43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" y="1404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Backup-Job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2000" y="1404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Backup aus PVE → Datastore odcf-fs04 erfolgreich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34000" y="1404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6000" y="1404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1836000"/>
            <a:ext cx="114732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1836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LDAP-Anmeldung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2000" y="1836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Login über AD-Gruppe ODCF-SysAdmins funktioniert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34000" y="1836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6000" y="1836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2268000"/>
            <a:ext cx="11473200" cy="43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000" y="2268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E-Mail-Benachrichtigung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2000" y="2268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Versand bei erfolgreichem und fehlgeschlagenem Job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34000" y="2268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6000" y="2268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2700000"/>
            <a:ext cx="114732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000" y="2700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Prometheus-Metriken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2000" y="2700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pbs_up=1, Datastore-Belegung im Dashboard sichtbar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34000" y="2700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6000" y="2700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3132000"/>
            <a:ext cx="11473200" cy="43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000" y="3132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Storage-Trennung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42000" y="3132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Backups ausschließlich auf dediziertem Datastore (nicht Ceph)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34000" y="3132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6000" y="3132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00" y="3564000"/>
            <a:ext cx="114732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000" y="3564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File-Restore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2000" y="3564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Einzelne Dateien aus Snapshot via PVE-WebUI wiederhergestellt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34000" y="3564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6000" y="3564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000" y="3996000"/>
            <a:ext cx="11473200" cy="43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000" y="3996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VM-Restore (komplett)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2000" y="3996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Test-VM mit neuer VMID aus Snapshot restored und gestartet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34000" y="3996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6000" y="3996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0000" y="4428000"/>
            <a:ext cx="114732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000" y="4428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Container-Restore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42000" y="4428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LXC erfolgreich wiederhergestellt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34000" y="4428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6000" y="4428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0000" y="4860000"/>
            <a:ext cx="11473200" cy="432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0000" y="4860000"/>
            <a:ext cx="24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Integritätsprüfung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42000" y="4860000"/>
            <a:ext cx="78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>Manueller Verify-Job: alle Chunks gültig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34000" y="4860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2E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16000" y="4860000"/>
            <a:ext cx="115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E73"/>
                </a:solidFill>
                <a:latin typeface="Arial"/>
              </a:rPr>
              <a:t>✔ OK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5292000"/>
            <a:ext cx="12193200" cy="4320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000" y="5400000"/>
            <a:ext cx="1147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72"/>
                </a:solidFill>
                <a:latin typeface="Arial"/>
              </a:rPr>
              <a:t>Abnahme durch Frank Thommen (ODCF) erteilt  |  Restorezeiten deutlich kürzer als TSM/Tape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8000"/>
          </a:xfrm>
          <a:prstGeom prst="rect">
            <a:avLst/>
          </a:prstGeom>
          <a:solidFill>
            <a:srgbClr val="009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493200" cy="522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Fazit: Soll-Ist-Vergleich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76000"/>
            <a:ext cx="9493200" cy="306000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009ED9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6001"/>
            <a:ext cx="12193200" cy="251999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42001"/>
            <a:ext cx="107532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42001"/>
            <a:ext cx="1152000" cy="197999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12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16000"/>
            <a:ext cx="10800000" cy="324000"/>
          </a:xfrm>
          <a:prstGeom prst="rect">
            <a:avLst/>
          </a:prstGeom>
          <a:solidFill>
            <a:srgbClr val="00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116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1116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Geplant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0000" y="1116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Tatsächlich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000" y="1116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Differenz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1440000"/>
            <a:ext cx="10800000" cy="324000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1440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0" y="1440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6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000" y="1440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4.5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000" y="1440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009E73"/>
                </a:solidFill>
                <a:latin typeface="Arial"/>
              </a:rPr>
              <a:t>-1.5 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764000"/>
            <a:ext cx="10800000" cy="3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1764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Entwurf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0000" y="1764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6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0000" y="1764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5.5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000" y="1764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009E73"/>
                </a:solidFill>
                <a:latin typeface="Arial"/>
              </a:rPr>
              <a:t>-0.5 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2088000"/>
            <a:ext cx="10800000" cy="324000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000" y="2088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Beschaffung / Vorbereitung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0" y="2088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4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0000" y="2088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6.0 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000" y="2088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CC3333"/>
                </a:solidFill>
                <a:latin typeface="Arial"/>
              </a:rPr>
              <a:t>+2.0 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2412000"/>
            <a:ext cx="10800000" cy="3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2412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PBS-Installation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0000" y="2412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4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0000" y="2412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5.0 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000" y="2412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CC3333"/>
                </a:solidFill>
                <a:latin typeface="Arial"/>
              </a:rPr>
              <a:t>+1.0 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000" y="2736000"/>
            <a:ext cx="10800000" cy="324000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2736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Konfiguration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0000" y="2736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8 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0000" y="2736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6.0 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000" y="2736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009E73"/>
                </a:solidFill>
                <a:latin typeface="Arial"/>
              </a:rPr>
              <a:t>-2.0 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3060000"/>
            <a:ext cx="10800000" cy="3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0000" y="3060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Abnahme /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20000" y="3060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4 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0000" y="3060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3.5 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000" y="3060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009E73"/>
                </a:solidFill>
                <a:latin typeface="Arial"/>
              </a:rPr>
              <a:t>-0.5 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000" y="3384000"/>
            <a:ext cx="10800000" cy="324000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0" y="3384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Einführung / Übergabe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0000" y="3384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2 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0000" y="3384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1.5 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0000" y="3384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009E73"/>
                </a:solidFill>
                <a:latin typeface="Arial"/>
              </a:rPr>
              <a:t>-0.5 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00" y="3708000"/>
            <a:ext cx="10800000" cy="3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0000" y="3708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Dokumentation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0000" y="3708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8 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0000" y="3708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10.0 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0000" y="3708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0">
                <a:solidFill>
                  <a:srgbClr val="CC3333"/>
                </a:solidFill>
                <a:latin typeface="Arial"/>
              </a:rPr>
              <a:t>+2.0 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0000" y="4032000"/>
            <a:ext cx="10800000" cy="324000"/>
          </a:xfrm>
          <a:prstGeom prst="rect">
            <a:avLst/>
          </a:prstGeom>
          <a:solidFill>
            <a:srgbClr val="131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0000" y="4032000"/>
            <a:ext cx="457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GESAMT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20000" y="4032000"/>
            <a:ext cx="169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42 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0000" y="4032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42.0 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000" y="4032000"/>
            <a:ext cx="2052000" cy="324000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0.0 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4536000"/>
            <a:ext cx="11473200" cy="251999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8000" y="4536000"/>
            <a:ext cx="4320000" cy="251999"/>
          </a:xfrm>
          <a:prstGeom prst="rect">
            <a:avLst/>
          </a:prstGeom>
          <a:noFill/>
        </p:spPr>
        <p:txBody>
          <a:bodyPr wrap="square" anchor="ctr" tIns="7200" bIns="72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Lessons Learned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0000" y="4787999"/>
            <a:ext cx="11473200" cy="1674002"/>
          </a:xfrm>
          <a:prstGeom prst="rect">
            <a:avLst/>
          </a:prstGeom>
          <a:solidFill>
            <a:srgbClr val="F4F7FA"/>
          </a:solidFill>
          <a:ln w="6350">
            <a:solidFill>
              <a:srgbClr val="009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8000" y="4878000"/>
            <a:ext cx="115200" cy="115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8000" y="4824000"/>
            <a:ext cx="2508300" cy="1566001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Frühe Netzwerk-Abstimmung ist kritisch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6300" y="4878000"/>
            <a:ext cx="115200" cy="115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16300" y="4824000"/>
            <a:ext cx="2508300" cy="1566001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Altbestands-Hardware schränkt Dateisystemwahl ein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04600" y="4878000"/>
            <a:ext cx="115200" cy="115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84600" y="4824000"/>
            <a:ext cx="2508300" cy="1566001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Betriebsdoku so wertvoll wie die Implementierung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72900" y="4878000"/>
            <a:ext cx="115200" cy="115200"/>
          </a:xfrm>
          <a:prstGeom prst="rect">
            <a:avLst/>
          </a:prstGeom>
          <a:solidFill>
            <a:srgbClr val="007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52900" y="4824000"/>
            <a:ext cx="2508300" cy="1566001"/>
          </a:xfrm>
          <a:prstGeom prst="rect">
            <a:avLst/>
          </a:prstGeom>
          <a:noFill/>
        </p:spPr>
        <p:txBody>
          <a:bodyPr wrap="square" anchor="t" tIns="7200" bIns="7200">
            <a:spAutoFit/>
          </a:bodyPr>
          <a:lstStyle/>
          <a:p>
            <a:pPr algn="l"/>
            <a:r>
              <a:rPr sz="1200" b="0">
                <a:solidFill>
                  <a:srgbClr val="1C1C2E"/>
                </a:solidFill>
                <a:latin typeface="Arial"/>
              </a:rPr>
              <a:t>PBS + PVE sehr gut toolunterstützt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Ausblick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40000"/>
            <a:ext cx="967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9ED9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13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188000"/>
            <a:ext cx="3704400" cy="25920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216800"/>
            <a:ext cx="35604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Kurzfristig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447200"/>
            <a:ext cx="3704400" cy="298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15192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Produktive PBS-Instanz auf Basis des Blueprints aufsetzen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" y="24768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Lokale Hypervisor-Backups schrittweise auf PBS migrieren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" y="34344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Übergabe an Stefan Becker (ODCF-Sysadmin-Team)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400" y="1188000"/>
            <a:ext cx="3704400" cy="2592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400" y="1216800"/>
            <a:ext cx="35604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Mittelfristig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4400" y="1447200"/>
            <a:ext cx="3704400" cy="298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8400" y="15192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Off-Site-Replikation des Datastores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8400" y="24768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Ablösung der TSM/Tape-Sicherung als Primärbackup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8400" y="34344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Trend-Alerts auf Datastore-Belegung in Prometheus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800" y="1188000"/>
            <a:ext cx="3704400" cy="259200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6800" y="1216800"/>
            <a:ext cx="35604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Langfristig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800" y="1447200"/>
            <a:ext cx="3704400" cy="2980800"/>
          </a:xfrm>
          <a:prstGeom prst="rect">
            <a:avLst/>
          </a:prstGeom>
          <a:solidFill>
            <a:srgbClr val="F4F7FA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2800" y="15192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Vollautomatisiertes Backup-Monitoring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2800" y="24768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Regelmäßige Restore-Tests als SOP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2800" y="3434400"/>
            <a:ext cx="3488400" cy="9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2E"/>
                </a:solidFill>
                <a:latin typeface="Arial"/>
              </a:rPr>
              <a:t>▸  Erweiterung auf weitere ODCF-Dienste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4571999"/>
            <a:ext cx="1147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72"/>
                </a:solidFill>
                <a:latin typeface="Arial"/>
              </a:rPr>
              <a:t>Projektergebnis: Blueprint-PBS odcf-fs04 vollständig aufgebaut, getestet und an das ODCF-Team übergeben.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3200" cy="1905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967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Zusammenfassung</a:t>
            </a:r>
          </a:p>
        </p:txBody>
      </p:sp>
      <p:pic>
        <p:nvPicPr>
          <p:cNvPr id="5" name="Picture 4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00" y="108000"/>
            <a:ext cx="2232000" cy="4098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88000"/>
            <a:ext cx="12193200" cy="270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624000"/>
            <a:ext cx="1075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3200" y="6624000"/>
            <a:ext cx="115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Arial"/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314000"/>
            <a:ext cx="198000" cy="324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000" y="1260000"/>
            <a:ext cx="1111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72"/>
                </a:solidFill>
                <a:latin typeface="Arial"/>
              </a:rPr>
              <a:t>Projektziel erreicht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00" y="1494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Dedizierter PBS odcf-fs04 eingerichtet und vollständig in den PVE-Cluster integriert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854000"/>
            <a:ext cx="198000" cy="32400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000" y="1800000"/>
            <a:ext cx="1111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E73"/>
                </a:solidFill>
                <a:latin typeface="Arial"/>
              </a:rPr>
              <a:t>Alle Tests bestanden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000" y="2034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Backup, Restore und Integritätsprüfung erfolgreich: Abnahme durch Betreuer erteilt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394000"/>
            <a:ext cx="198000" cy="3240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000" y="2340000"/>
            <a:ext cx="1111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BC2"/>
                </a:solidFill>
                <a:latin typeface="Arial"/>
              </a:rPr>
              <a:t>Im Zeitrahmen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000" y="2574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34,5 von 40 geplanten Stunden genutzt (-5,5 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934000"/>
            <a:ext cx="198000" cy="3240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000" y="2880000"/>
            <a:ext cx="1111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8A00"/>
                </a:solidFill>
                <a:latin typeface="Arial"/>
              </a:rPr>
              <a:t>Dokumentation vollständig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000" y="3114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Betriebsdokumentation im ODCF-DokuWiki und Projektdokumentation für IHK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474000"/>
            <a:ext cx="198000" cy="324000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000" y="3420000"/>
            <a:ext cx="11113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A90"/>
                </a:solidFill>
                <a:latin typeface="Arial"/>
              </a:rPr>
              <a:t>Mehrwert für die ODCF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00" y="3654000"/>
            <a:ext cx="11113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E"/>
                </a:solidFill>
                <a:latin typeface="Arial"/>
              </a:rPr>
              <a:t>Zentrale Verwaltung, schnellere Restores, Monitoring: solide Basis für den Produktivgang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43500"/>
            <a:ext cx="12193200" cy="17145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43500"/>
            <a:ext cx="12193200" cy="38100"/>
          </a:xfrm>
          <a:prstGeom prst="rect">
            <a:avLst/>
          </a:prstGeom>
          <a:solidFill>
            <a:srgbClr val="009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KFZ_Logo-horiz_de_White_RGB_A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288000"/>
            <a:ext cx="2880000" cy="5287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1260000"/>
            <a:ext cx="1111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Vielen Dank für Ihre Aufmerksamkeit!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16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9ED9"/>
                </a:solidFill>
                <a:latin typeface="Arial"/>
              </a:rPr>
              <a:t>Fragen und Fachgespräch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328000"/>
            <a:ext cx="11113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0"/>
                </a:solidFill>
                <a:latin typeface="Arial"/>
              </a:rPr>
              <a:t>Johannes Nguyen  |  Fachinformatiker Systemintegration  |  DKFZ / ODCF  |  IHK Rhein-Neckar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