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3200" cy="192024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937760"/>
            <a:ext cx="12193200" cy="381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288000"/>
            <a:ext cx="2880000" cy="528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1007999"/>
            <a:ext cx="111132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9ED9"/>
                </a:solidFill>
                <a:latin typeface="Arial"/>
              </a:rPr>
              <a:t>Abschlusspräsentation – Betriebliche Projektarbeit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368000"/>
            <a:ext cx="111132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Einrichtung eines dedizierten
Proxmox Backup Servers
bei der ODCF am DKFZ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220000"/>
            <a:ext cx="111132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3"/>
                </a:solidFill>
                <a:latin typeface="Arial"/>
              </a:rPr>
              <a:t>Johannes Nguyen  |  Fachinformatiker Systemintegration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544000"/>
            <a:ext cx="1111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90"/>
                </a:solidFill>
                <a:latin typeface="Arial"/>
              </a:rPr>
              <a:t>DKFZ – Deutsches Krebsforschungszentrum  |  IHK Rhein-Neckar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Gliederung</a:t>
            </a:r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1880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12240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12240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Technologischer Hintergrund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832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15192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15192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Unternehmen und Projektumfeld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17784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18144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000" y="18144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Ausgangssituation und Projektziel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0736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96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000" y="21096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Projektplanung und Zeitrahmen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23688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24048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24048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Analysephase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6640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7000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000" y="27000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Begründete Entscheidungen – Warum diese Lösung?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29592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29952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000" y="29952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Entwurfsphase – Architektur und Backup-Konzept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32544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000" y="32904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000" y="32904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Implementierungsphase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35496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000" y="35856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000" y="35856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Abnahme und Tests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38448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38808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000" y="38808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Fazit und Soll-Ist-Vergleich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4140000"/>
            <a:ext cx="576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0" y="4176000"/>
            <a:ext cx="57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000" y="4176000"/>
            <a:ext cx="107532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2E"/>
                </a:solidFill>
                <a:latin typeface="Arial"/>
              </a:rPr>
              <a:t>Ausblick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Technologischer Hintergrund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Eingesetzte Technologien im Überblick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88000"/>
            <a:ext cx="27333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Proxmox VE (PVE)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Open-Source-Virtualisierungsplattform auf Basis von Debian Linux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Verwaltet VMs (KVM) und Container (LXC) im Cluster-Betrieb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Bei der ODCF: 6 Hypervisor-Knoten, ~60 VMs + LXC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300" y="1188000"/>
            <a:ext cx="27333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13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Proxmox Backup Server (PBS)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33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73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Hauseigene Backup-Lösung von Proxmox, nativ in PVE integriert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73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Inkrementelle Sicherungen mit clientseitiger Deduplizierung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73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Integritätsprüfung via Prüfsummen-Verify-Jobs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6600" y="1188000"/>
            <a:ext cx="2733300" cy="2592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46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66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06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Verteiltes Open-Source-Storage-System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06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Primär-Storage-Backend des PVE-Clusters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06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Brutto-Kapazität: ~44 TB, davon ~6 TB belegt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9900" y="1188000"/>
            <a:ext cx="27333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07900" y="1216800"/>
            <a:ext cx="25893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Hardware-RAID vs. ZFS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9900" y="1447200"/>
            <a:ext cx="2733300" cy="280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3900" y="15192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Hardware-RAID: RAID-Controller übernimmt Parität (RAID 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3900" y="24168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ZFS: Software-Stack mit direktem Disk-Zugriff (HBA nötig)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3900" y="3314400"/>
            <a:ext cx="2517300" cy="93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x3755 M3 besitzt nur Hardware-RAID-Controller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Unternehmen und Projektumfeld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01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5580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180800"/>
            <a:ext cx="54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DKFZ – Deutsches Krebsforschungszentrum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11200"/>
            <a:ext cx="5580000" cy="23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4832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Größte biomedizinische Forschungseinrichtung Deutschlands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0394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Standort: Heidelberg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25956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Forschung zu Krebsentstehung und -bekämpfung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000" y="3151800"/>
            <a:ext cx="536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Betreibt komplexe IT-Infrastruktur für genomische Daten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3200" y="1152000"/>
            <a:ext cx="59400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1200" y="1180800"/>
            <a:ext cx="579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ODCF – Omics IT and Data Management Core Facility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93200" y="1411200"/>
            <a:ext cx="5940000" cy="23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7200" y="14832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Interner IT-Dienstleister des DKFZ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7200" y="20394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Hochleistungs-Compute-Cluster (IBM LSF)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7200" y="25956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PVE-Cluster: 6 Hypervisor-Knoten, ~60 VMs + LXC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7200" y="3151800"/>
            <a:ext cx="5724000" cy="59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Auftraggeber: Frank Thommen (ODCF)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3852000"/>
            <a:ext cx="16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Projektart: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5999" y="3852000"/>
            <a:ext cx="9745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Internes Projekt – Auftraggeber = Auftragnehmer (DKFZ)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111200"/>
            <a:ext cx="16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Ausbildungsberuf: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5999" y="4111200"/>
            <a:ext cx="9745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Fachinformatiker Systemintegration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4370400"/>
            <a:ext cx="16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Zeitrahmen: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5999" y="4370400"/>
            <a:ext cx="9745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40 Stunden  |  Bearbeitungszeitraum bis 30.04.2026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Ausgangssituation und Projektziel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02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180000" cy="251999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1999" y="1170000"/>
            <a:ext cx="252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3333"/>
                </a:solidFill>
                <a:latin typeface="Arial"/>
              </a:rPr>
              <a:t>IST-Zustand – Probleme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000" y="1530000"/>
            <a:ext cx="162000" cy="16200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000" y="1476000"/>
            <a:ext cx="52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Backup nur auf lokalem Hypervisor-Storage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10800"/>
            <a:ext cx="162000" cy="16200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000" y="1756800"/>
            <a:ext cx="52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Dell-VxRail-Knoten: kein lokaler 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2091600"/>
            <a:ext cx="162000" cy="16200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000" y="2037600"/>
            <a:ext cx="52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Primär- und Sicherungsdaten auf gleicher Infra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372400"/>
            <a:ext cx="162000" cy="16200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318400"/>
            <a:ext cx="52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Keine zentrale Verwaltung und Überwachung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2653200"/>
            <a:ext cx="162000" cy="16200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6000" y="2599200"/>
            <a:ext cx="52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Keine automatische Integritätsprüfung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934000"/>
            <a:ext cx="162000" cy="16200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000" y="2880000"/>
            <a:ext cx="52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Restore aus TSM/Tape: aufwändig und langsam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8000" y="2520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9ED9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12000" y="1152000"/>
            <a:ext cx="180000" cy="251999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3999" y="1170000"/>
            <a:ext cx="360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9E73"/>
                </a:solidFill>
                <a:latin typeface="Arial"/>
              </a:rPr>
              <a:t>SOLL – Projektziel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20000" y="15300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08000" y="14760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Dedizierter PBS auf eigener Hardware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0000" y="18108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08000" y="17568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Anbindung an den gesamten PVE-Cluster (alle 6 Knoten)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20000" y="20916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08000" y="20376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Inkrementelle Backups mit Deduplizierung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20000" y="23724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08000" y="23184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Retention Policies für kritische VMs und Test-VMs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20000" y="26532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08000" y="25992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Zentrales Monitoring via Prometheus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20000" y="29340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08000" y="28800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E-Mail-Benachrichtigungen bei Fehlern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20000" y="3214800"/>
            <a:ext cx="162000" cy="162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08000" y="3160800"/>
            <a:ext cx="445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Betriebsdokumentation für das ODCF-Team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102000"/>
            <a:ext cx="12193200" cy="1905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0000" y="6120001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90"/>
                </a:solidFill>
                <a:latin typeface="Arial"/>
              </a:rPr>
              <a:t>Scope: Blueprint-Testinstanz als Referenz für späteren Produktivgang – kein Ersatz der bisherigen TSM/Tape-Sicherung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Projektplanung und Zeitrahmen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6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134000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90"/>
                </a:solidFill>
                <a:latin typeface="Arial"/>
              </a:rPr>
              <a:t>Gesamtbudget: 40 Stunden  |  max. 8 h Dokumentation  |  Iteratives Vorgehen mit Abstimmungsschleifen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0000" y="1512000"/>
            <a:ext cx="1617428" cy="503999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548000"/>
            <a:ext cx="1567028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771200"/>
            <a:ext cx="1567028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6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9028" y="1512000"/>
            <a:ext cx="1617428" cy="503999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35028" y="1548000"/>
            <a:ext cx="1567028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Entwurf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5028" y="1771200"/>
            <a:ext cx="1567028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6 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8057" y="1512000"/>
            <a:ext cx="1071085" cy="503999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4057" y="1548000"/>
            <a:ext cx="1020685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Beschaffung/Vorb.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4057" y="1771200"/>
            <a:ext cx="1020685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0742" y="1512000"/>
            <a:ext cx="1071085" cy="503999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66742" y="1548000"/>
            <a:ext cx="1020685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PBS-Installation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6742" y="1771200"/>
            <a:ext cx="1020685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23428" y="1512000"/>
            <a:ext cx="2163771" cy="503999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9428" y="1548000"/>
            <a:ext cx="211337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Konfiguration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9428" y="1771200"/>
            <a:ext cx="2113371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8 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8800" y="1512000"/>
            <a:ext cx="1071085" cy="503999"/>
          </a:xfrm>
          <a:prstGeom prst="rect">
            <a:avLst/>
          </a:prstGeom>
          <a:solidFill>
            <a:srgbClr val="5B9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4800" y="1548000"/>
            <a:ext cx="1020685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Abnahme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4800" y="1771200"/>
            <a:ext cx="1020685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4 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01485" y="1512000"/>
            <a:ext cx="524742" cy="503999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19485" y="1548000"/>
            <a:ext cx="51034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47828" y="1512000"/>
            <a:ext cx="2163771" cy="503999"/>
          </a:xfrm>
          <a:prstGeom prst="rect">
            <a:avLst/>
          </a:prstGeom>
          <a:solidFill>
            <a:srgbClr val="7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83828" y="1548000"/>
            <a:ext cx="2113371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Dokumentation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3828" y="1771200"/>
            <a:ext cx="2113371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8 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2267998"/>
            <a:ext cx="3780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000" y="2296798"/>
            <a:ext cx="36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2527198"/>
            <a:ext cx="37800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4000" y="25991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System x3755 M3 (Bestandshardware)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000" y="30023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32 Kerne AMD Opteron  |  32 GB 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000" y="34055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6 × 4 TB HDD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000" y="38087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RAID 1 (System) + RAID 5 (Datastore ~20 TB)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0" y="2267998"/>
            <a:ext cx="37800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28000" y="2296798"/>
            <a:ext cx="363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Software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0" y="2527198"/>
            <a:ext cx="37800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64000" y="25991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4 (AGPLv3 – keine Lizenzkosten)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64000" y="30023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Debian Linux als Basis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4000" y="34055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ext4-Dateisystem auf HW-RAID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4000" y="3808798"/>
            <a:ext cx="3564000" cy="43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Prometheus + pbs-exporter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0000" y="2267998"/>
            <a:ext cx="3517200" cy="259200"/>
          </a:xfrm>
          <a:prstGeom prst="rect">
            <a:avLst/>
          </a:prstGeom>
          <a:solidFill>
            <a:srgbClr val="705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8000" y="2296798"/>
            <a:ext cx="3373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Personal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0000" y="2527198"/>
            <a:ext cx="3517200" cy="17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24000" y="25991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Prüfling: Johannes Nguyen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24000" y="31367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Betreuer: Frank Thommen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24000" y="3674398"/>
            <a:ext cx="3301200" cy="57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Übergabe: Stefan Becker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Analysephase – Anforderungen und Wirtschaftlichkeit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04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7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57600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180800"/>
            <a:ext cx="5616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Funktionale Anforderungen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11200"/>
            <a:ext cx="5760000" cy="20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483200"/>
            <a:ext cx="5544000" cy="36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Dedizierter PBS auf eigener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1812000"/>
            <a:ext cx="5544000" cy="36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Sicherung aller ~60 VMs und LXC-Container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2140800"/>
            <a:ext cx="5544000" cy="36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Backup-Jobs mit Zeitplan und Retention Policies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000" y="2469600"/>
            <a:ext cx="5544000" cy="36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E-Mail-Benachrichtigung bei Fehlschlägen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" y="2798400"/>
            <a:ext cx="5544000" cy="36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Anbindung an Prometheus-Monitoring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" y="3127200"/>
            <a:ext cx="5544000" cy="36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File-Restore und vollständiger VM-Restore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65200" y="1152000"/>
            <a:ext cx="58680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3200" y="1180800"/>
            <a:ext cx="57240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Nicht-funktionale Anforderungen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5200" y="1411200"/>
            <a:ext cx="5868000" cy="20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09200" y="1483200"/>
            <a:ext cx="5652000" cy="43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Trennung Primär- und Sicherungs-Storage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09200" y="1877760"/>
            <a:ext cx="5652000" cy="43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LDAP-Authentifizierung (DKFZ Active Directory)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9200" y="2272320"/>
            <a:ext cx="5652000" cy="43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Open-Source-Lösung (AGPLv3, keine Lizenzkosten)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09200" y="2666880"/>
            <a:ext cx="5652000" cy="43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Integration in bestehendes VLAN-Konzept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9200" y="3061440"/>
            <a:ext cx="5652000" cy="43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Notfallzugang via lokalem root-Account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3600000"/>
            <a:ext cx="1147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F72"/>
                </a:solidFill>
                <a:latin typeface="Arial"/>
              </a:rPr>
              <a:t>Wirtschaftlichkeitsbetrachtung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38700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000" y="3906000"/>
            <a:ext cx="33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Personalkosten Prüfling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41999" y="3906000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40 h × ~25 €/h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3999" y="39060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~1.000 €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41148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000" y="4150800"/>
            <a:ext cx="33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Betreuung / Abstimmung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41999" y="4150800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5 h × ~80 €/h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3999" y="41508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~400 €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43596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000" y="4395600"/>
            <a:ext cx="33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1999" y="4395600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IBM x3755 (Bestand)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3999" y="43956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0 €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46044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0000" y="4640400"/>
            <a:ext cx="33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Software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41999" y="4640400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 (AGPLv3)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93999" y="46404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0 €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48492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000" y="4885200"/>
            <a:ext cx="33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Betriebskosten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41999" y="4885200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Strom/Stellplatz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93999" y="48852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~200 €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5094000"/>
            <a:ext cx="11473200" cy="244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0000" y="5130000"/>
            <a:ext cx="33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Gesamt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41999" y="5130000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93999" y="51300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~1.600 €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40000" y="3870000"/>
            <a:ext cx="31932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Nutzen:
▸ Schnellere Restores
  (Minuten statt Stunden)
▸ Zentrale Verwaltung
▸ Integritätsprüfung
▸ Keine Lizenzkosten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Begründete Entscheidungen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04b – Warum diese Lösung?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162000" cy="126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000" y="1188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F72"/>
                </a:solidFill>
                <a:latin typeface="Arial"/>
              </a:rPr>
              <a:t>PBS statt Veeam oder Bacula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000" y="1458000"/>
            <a:ext cx="1620000" cy="19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468800"/>
            <a:ext cx="1548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Beauftragt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000" y="1692000"/>
            <a:ext cx="11185200" cy="66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Veeam und Bacula erfordern bei Versionswechseln Lizenzanpassungen oder kostenpflichtige Updates. PBS ist unter AGPLv3 dauerhaft kostenlos – auch bei Major-Version-Upgrades entstehen keine Lizenzkosten. Zudem ist PBS nativ in PVE integriert, was externe Schnittstellen und Kompatibilitätsrisiken entfallen lässt.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394000"/>
            <a:ext cx="11473200" cy="1800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0000" y="2412000"/>
            <a:ext cx="162000" cy="12600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000" y="2448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BC2"/>
                </a:solidFill>
                <a:latin typeface="Arial"/>
              </a:rPr>
              <a:t>IBM x3755 M3 als Backup-Server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000" y="2718000"/>
            <a:ext cx="1620000" cy="1980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00" y="2728800"/>
            <a:ext cx="1548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Bestandshardware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000" y="2952000"/>
            <a:ext cx="11185200" cy="66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Der Server war als Altbestand im DKFZ verfügbar. Keine Beschaffungskosten, sofort einsatzbereit. 32 Kerne und 32 GB RAM sind für einen dedizierten PBS ausreichend dimensioniert. Die 6 × 4 TB HDDs ergeben auf RAID 5 rund 20 TB nutzbaren Datastore-Speicher – mehr als genug für die ~6 TB belegter Primärdaten.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654000"/>
            <a:ext cx="11473200" cy="1800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0000" y="3672000"/>
            <a:ext cx="162000" cy="12600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000" y="3708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FA0"/>
                </a:solidFill>
                <a:latin typeface="Arial"/>
              </a:rPr>
              <a:t>Hardware-RAID 5 statt ZFS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000" y="3978000"/>
            <a:ext cx="1620000" cy="1980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00" y="3988800"/>
            <a:ext cx="1548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Hardwareseitige Einschränkung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000" y="4212000"/>
            <a:ext cx="11185200" cy="66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Der IBM x3755 M3 besitzt einen integrierten Hardware-RAID-Controller. ZFS benötigt direkten Disk-Zugriff (HBA-Modus), der auf diesem Server nicht möglich ist. Auf neuerer Hardware wäre ZFS die bevorzugte Lösung (Copy-on-Write, native Checksums, kein Single Point of Failure wie beim RAID-Controller). Die Datenintegrität übernimmt hier stattdessen der PBS-eigene Verify-Job.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914000"/>
            <a:ext cx="11473200" cy="1800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0000" y="4932000"/>
            <a:ext cx="162000" cy="1260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000" y="4968000"/>
            <a:ext cx="27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E73"/>
                </a:solidFill>
                <a:latin typeface="Arial"/>
              </a:rPr>
              <a:t>ext4 als Dateisystem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000" y="5238000"/>
            <a:ext cx="1620000" cy="198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" y="5248800"/>
            <a:ext cx="1548000" cy="1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Folgt aus RAID-Entscheidung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000" y="5472000"/>
            <a:ext cx="11185200" cy="66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Da ZFS aufgrund des Hardware-RAID-Controllers ausscheidet, fällt die Wahl auf ext4. Es ist stabil, weit verbreitet und wird vom PBS offiziell unterstützt. XFS wäre eine Alternative, bietet aber bei dieser Workload (viele kleine Chunk-Dateien) keinen messbaren Vorteil.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6174000"/>
            <a:ext cx="11473200" cy="1800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Entwurfsphase – Systemarchitektur und Backup-Konzept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9 / 15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152000"/>
            <a:ext cx="6120000" cy="430967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660000" y="1152000"/>
            <a:ext cx="51732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8000" y="118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Hardware &amp; Netzwerk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0" y="1411200"/>
            <a:ext cx="5173200" cy="1108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04000" y="14832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IBM x3755 M3 im Rack14 (ODCF-RZ)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04000" y="17334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2×10 GbE SFP-Karte, LACP bond0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4000" y="19836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IP: 10.131.196.78 (server-VLAN)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4000" y="2233800"/>
            <a:ext cx="4957200" cy="2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WebUI: https://odcf-fs04:8007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0000" y="2592000"/>
            <a:ext cx="51732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8000" y="262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Authentifizierung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0000" y="2851200"/>
            <a:ext cx="5173200" cy="928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4000" y="29232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LDAP (LDAPS:636) → ODCF-SysAdmins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4000" y="31968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Lokaler root für Notfall/Automation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04000" y="3470400"/>
            <a:ext cx="4957200" cy="3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Passwort im Bitwarden-Tresor (ODCF)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0000" y="3852000"/>
            <a:ext cx="51732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8000" y="3880800"/>
            <a:ext cx="5029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Monitoring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60000" y="4111200"/>
            <a:ext cx="5173200" cy="964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4000" y="41832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pbs-exporter → Prometheus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4000" y="44688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E-Mail via DKFZ-SMTP-Relay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04000" y="4754400"/>
            <a:ext cx="4957200" cy="32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Wöchentlicher Verify-Job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000" y="5220000"/>
            <a:ext cx="504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F72"/>
                </a:solidFill>
                <a:latin typeface="Arial"/>
              </a:rPr>
              <a:t>Backup-Konzept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5471999"/>
            <a:ext cx="11473200" cy="244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000" y="55079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VM-Klasse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2000" y="55079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Frequenz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94000" y="55079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6000" y="55079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Restore-Quelle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5716799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000" y="57527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Kritisch (SOP-pflichtig)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42000" y="57527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2 × täglich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4000" y="57527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keep-last =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6000" y="57527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 Datastore + Tape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0000" y="5961599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0000" y="5997599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Test-VMs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42000" y="5997599"/>
            <a:ext cx="18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2 × täglich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94000" y="5997599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keep-last =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6000" y="5997599"/>
            <a:ext cx="277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 Datastore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Implementierungsphase – Umsetzung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5646600" cy="2592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1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1  Beschaffung und Vorbereitung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4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IBM x3755 M3 → Rack14, RAID-Controller konfiguriert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18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SFP-Karte eingebaut, LACP bond0 (802.3ad, layer3+4)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21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Verkabelung Rack14/16 → Cisco-Switch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000" y="24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Zeitaufwand: ~6 h (RAID-Komplikationen +2 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6600" y="1152000"/>
            <a:ext cx="56466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4600" y="11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2  PBS-Installation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600" y="14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0600" y="14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4 ISO-Installation, Hostname odcf-fs04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0600" y="18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pbs-no-subscription-Repo, vollständiges apt-Upgrade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0600" y="21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DNS-Eintrag, NTP-Sync auf DKFZ-Zeitserver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0600" y="24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Zeitaufwand: ~5 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952000"/>
            <a:ext cx="5646600" cy="259200"/>
          </a:xfrm>
          <a:prstGeom prst="rect">
            <a:avLst/>
          </a:prstGeom>
          <a:solidFill>
            <a:srgbClr val="00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000" y="29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3  Datastore und LDAP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32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00" y="32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ext4 auf RAID 5 → /mnt/datastore/backup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000" y="36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PBS-Datastore 'backup' angelegt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000" y="39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DKFZ-LDAP (LDAPS:636) → ODCF-SysAdmins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000" y="42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Wöchentlicher Verify-Job eingerichtet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6600" y="2952000"/>
            <a:ext cx="5646600" cy="2592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4600" y="2980800"/>
            <a:ext cx="55026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4  PVE-Integration und Backup-Jobs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86600" y="3211200"/>
            <a:ext cx="5646600" cy="1432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0600" y="32832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PBS als Storage im PVE-Cluster eingebunden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600" y="36144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Authentifizierung: root-PW + TLS-Fingerprint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0600" y="39456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Backup-Jobs: 2×täglich, keep-last=3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0600" y="4276800"/>
            <a:ext cx="5430600" cy="36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▸  Manueller Test-Backup vor Produktivgang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Abnahme und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11473200" cy="244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11880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2000" y="11880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Ergebnis / Beschreibung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34000" y="11880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13968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000" y="14328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Backup-Job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2000" y="14328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 aus PVE → Datastore odcf-fs04 erfolgreich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000" y="14328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6000" y="14328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16416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000" y="16776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LDAP-Anmeldung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2000" y="16776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Login über AD-Gruppe ODCF-SysAdmins funktioniert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4000" y="16776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6000" y="16776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18864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000" y="19224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E-Mail-Benachrichtigung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2000" y="19224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Versand bei erfolgreichem und fehlgeschlagenem Job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4000" y="19224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6000" y="19224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0000" y="21312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000" y="21672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Prometheus-Metriken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42000" y="21672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pbs_up=1, Datastore-Belegung im Dashboard sichtbar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34000" y="21672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6000" y="21672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23760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000" y="24120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Storage-Trennung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42000" y="24120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Backups ausschließlich auf dediziertem Datastore (nicht Ceph)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34000" y="24120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16000" y="24120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26208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000" y="26568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File-Restore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42000" y="26568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Einzelne Dateien aus Snapshot via PVE-WebUI wiederhergestellt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4000" y="26568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6000" y="26568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28656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0000" y="29016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VM-Restore (komplett)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2000" y="29016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Test-VM mit neuer VMID aus Snapshot restored und gestartet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34000" y="29016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6000" y="29016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0000" y="31104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0000" y="31464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Container-Restore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2000" y="31464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LXC erfolgreich wiederhergestellt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34000" y="31464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16000" y="31464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0000" y="33552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0000" y="3391200"/>
            <a:ext cx="24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Integritätsprüfung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42000" y="3391200"/>
            <a:ext cx="78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Manueller Verify-Job: alle Chunks gültig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34000" y="3391200"/>
            <a:ext cx="11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16000" y="3391200"/>
            <a:ext cx="115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E73"/>
                </a:solidFill>
                <a:latin typeface="Arial"/>
              </a:rPr>
              <a:t>✔ OK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3636000"/>
            <a:ext cx="12193200" cy="19050"/>
          </a:xfrm>
          <a:prstGeom prst="rect">
            <a:avLst/>
          </a:prstGeom>
          <a:solidFill>
            <a:srgbClr val="E8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0000" y="3690000"/>
            <a:ext cx="1147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Abnahme durch Frank Thommen (ODCF) erteilt  |  Restorezeiten deutlich kürzer als TSM/Tape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Fazit – Soll-Ist-Vergleich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52000"/>
            <a:ext cx="11473200" cy="2448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000" y="11880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1999" y="11880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Geplant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4000" y="11880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Tatsächlich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000" y="11880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Differenz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13968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000" y="14328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Analyse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1999" y="14328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6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4000" y="14328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4.5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000" y="14328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000" y="14328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E73"/>
                </a:solidFill>
                <a:latin typeface="Arial"/>
              </a:rPr>
              <a:t>-1.5 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16416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000" y="16776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Entwurf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1999" y="16776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6 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4000" y="16776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5.5 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000" y="16776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000" y="16776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E73"/>
                </a:solidFill>
                <a:latin typeface="Arial"/>
              </a:rPr>
              <a:t>-0.5 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18864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000" y="19224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Beschaffung / Vorber.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1999" y="19224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4000" y="19224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6.0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000" y="19224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000" y="19224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3333"/>
                </a:solidFill>
                <a:latin typeface="Arial"/>
              </a:rPr>
              <a:t>+2.0 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0000" y="21312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000" y="21672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PBS-Installation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1999" y="21672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000" y="21672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5.0 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000" y="21672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8000" y="21672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3333"/>
                </a:solidFill>
                <a:latin typeface="Arial"/>
              </a:rPr>
              <a:t>+1.0 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0000" y="23760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000" y="24120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Konfiguration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1999" y="24120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8 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4000" y="24120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6.0 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000" y="24120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000" y="24120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E73"/>
                </a:solidFill>
                <a:latin typeface="Arial"/>
              </a:rPr>
              <a:t>-2.0 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0000" y="26208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0000" y="26568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Abnahme / Tests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1999" y="26568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4 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4000" y="26568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3.5 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000" y="26568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000" y="26568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E73"/>
                </a:solidFill>
                <a:latin typeface="Arial"/>
              </a:rPr>
              <a:t>-0.5 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0000" y="2865600"/>
            <a:ext cx="11473200" cy="2448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0000" y="29016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Einführung / Übergabe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1999" y="29016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2 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4000" y="29016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1.5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000" y="29016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28000" y="29016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E73"/>
                </a:solidFill>
                <a:latin typeface="Arial"/>
              </a:rPr>
              <a:t>-0.5 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0000" y="3110400"/>
            <a:ext cx="11473200" cy="24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0000" y="31464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Dokumentation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1999" y="31464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8 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4000" y="31464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10.0 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000" y="31464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28000" y="31464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3333"/>
                </a:solidFill>
                <a:latin typeface="Arial"/>
              </a:rPr>
              <a:t>+2.0 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0000" y="3355200"/>
            <a:ext cx="11473200" cy="24480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0000" y="3391200"/>
            <a:ext cx="385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GESAMT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81999" y="33912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42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74000" y="3391200"/>
            <a:ext cx="169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42.0 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000" y="3391200"/>
            <a:ext cx="1512000" cy="19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000" y="3391200"/>
            <a:ext cx="1512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3333"/>
                </a:solidFill>
                <a:latin typeface="Arial"/>
              </a:rPr>
              <a:t>0.0 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900000" y="1152000"/>
            <a:ext cx="18972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08000" y="1180800"/>
            <a:ext cx="17532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Lessons Learned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900000" y="1411200"/>
            <a:ext cx="1897200" cy="352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44000" y="1483200"/>
            <a:ext cx="16812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Frühe Netzwerk-Abstimmung ist kritisch für den Zeitplan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44000" y="2336400"/>
            <a:ext cx="16812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Altbestands-Hardware schränkt Dateisystemwahl ein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44000" y="3189600"/>
            <a:ext cx="16812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Betriebsdokumentation ist mindestens so wertvoll wie die Implementierung selbst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44000" y="4042800"/>
            <a:ext cx="16812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C2E"/>
                </a:solidFill>
                <a:latin typeface="Arial"/>
              </a:rPr>
              <a:t>▸  PBS + PVE-Integration sehr gut toolunterstützt → schneller als geplant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Ausblick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540000"/>
            <a:ext cx="967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ED9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188000"/>
            <a:ext cx="3704400" cy="2592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Kurzfristig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0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Produktive PBS-Instanz auf Basis des Blueprints aufsetzen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Lokale Hypervisor-Backups schrittweise auf PBS migrieren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Übergabe an Stefan Becker (ODCF-Sysadmin-Team)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4400" y="1188000"/>
            <a:ext cx="3704400" cy="2592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4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Mittelfristig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44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84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Off-Site-Replikation des Datastores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84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Ablösung der TSM/Tape-Sicherung als Primärbackup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84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Trend-Alerts auf Datastore-Belegung in Prometheus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800" y="1188000"/>
            <a:ext cx="3704400" cy="25920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6800" y="1216800"/>
            <a:ext cx="3560400" cy="22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Langfristig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800" y="1447200"/>
            <a:ext cx="3704400" cy="2980800"/>
          </a:xfrm>
          <a:prstGeom prst="rect">
            <a:avLst/>
          </a:prstGeom>
          <a:solidFill>
            <a:srgbClr val="F4F7FA"/>
          </a:solidFill>
          <a:ln w="9525"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2800" y="15192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Vollautomatisiertes Backup-Monitoring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2800" y="24768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Regelmäßige Restore-Tests als SOP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2800" y="3434400"/>
            <a:ext cx="3488400" cy="99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2E"/>
                </a:solidFill>
                <a:latin typeface="Arial"/>
              </a:rPr>
              <a:t>▸  Erweiterung auf weitere ODCF-Dienste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4571999"/>
            <a:ext cx="1147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F72"/>
                </a:solidFill>
                <a:latin typeface="Arial"/>
              </a:rPr>
              <a:t>Projektergebnis: Blueprint-PBS odcf-fs04 vollständig aufgebaut, getestet und an das ODCF-Team übergeben.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6000"/>
            <a:ext cx="12193200" cy="1905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673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Zusammenfassung</a:t>
            </a:r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200" y="108000"/>
            <a:ext cx="2232000" cy="40981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88000"/>
            <a:ext cx="12193200" cy="270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6624000"/>
            <a:ext cx="1075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33200" y="6624000"/>
            <a:ext cx="1152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A90"/>
                </a:solidFill>
                <a:latin typeface="Arial"/>
              </a:rPr>
              <a:t>14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1314000"/>
            <a:ext cx="198000" cy="324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6000" y="126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3F72"/>
                </a:solidFill>
                <a:latin typeface="Arial"/>
              </a:rPr>
              <a:t>Projektziel erreicht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49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Dedizierter PBS odcf-fs04 eingerichtet und vollständig in den PVE-Cluster integriert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854000"/>
            <a:ext cx="198000" cy="324000"/>
          </a:xfrm>
          <a:prstGeom prst="rect">
            <a:avLst/>
          </a:prstGeom>
          <a:solidFill>
            <a:srgbClr val="009E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000" y="180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9E73"/>
                </a:solidFill>
                <a:latin typeface="Arial"/>
              </a:rPr>
              <a:t>Alle Tests bestanden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03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Backup, Restore und Integritätsprüfung erfolgreich – Abnahme durch Betreuer erteilt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394000"/>
            <a:ext cx="198000" cy="324000"/>
          </a:xfrm>
          <a:prstGeom prst="rect">
            <a:avLst/>
          </a:prstGeom>
          <a:solidFill>
            <a:srgbClr val="007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000" y="234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BC2"/>
                </a:solidFill>
                <a:latin typeface="Arial"/>
              </a:rPr>
              <a:t>Im Zeitrahmen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57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34,5 von 40 geplanten Stunden genutzt (-5,5 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934000"/>
            <a:ext cx="198000" cy="32400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000" y="288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8A00"/>
                </a:solidFill>
                <a:latin typeface="Arial"/>
              </a:rPr>
              <a:t>Dokumentation vollständig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000" y="311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Betriebsdokumentation im ODCF-DokuWiki und Projektdokumentation für IHK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74000"/>
            <a:ext cx="198000" cy="324000"/>
          </a:xfrm>
          <a:prstGeom prst="rect">
            <a:avLst/>
          </a:prstGeom>
          <a:solidFill>
            <a:srgbClr val="6B7A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000" y="3420000"/>
            <a:ext cx="111132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B7A90"/>
                </a:solidFill>
                <a:latin typeface="Arial"/>
              </a:rPr>
              <a:t>Mehrwert für die ODCF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000" y="3654000"/>
            <a:ext cx="111132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C1C2E"/>
                </a:solidFill>
                <a:latin typeface="Arial"/>
              </a:rPr>
              <a:t>Zentrale Verwaltung, schnellere Restores, Monitoring – solide Basis für den Produktivgang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3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43500"/>
            <a:ext cx="12193200" cy="1714500"/>
          </a:xfrm>
          <a:prstGeom prst="rect">
            <a:avLst/>
          </a:prstGeom>
          <a:solidFill>
            <a:srgbClr val="1C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43500"/>
            <a:ext cx="12193200" cy="38100"/>
          </a:xfrm>
          <a:prstGeom prst="rect">
            <a:avLst/>
          </a:prstGeom>
          <a:solidFill>
            <a:srgbClr val="009E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KFZ_Logo-horiz_de_White_RGB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288000"/>
            <a:ext cx="2880000" cy="528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1260000"/>
            <a:ext cx="111132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Vielen Dank für Ihre Aufmerksamkeit!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60000"/>
            <a:ext cx="1111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9ED9"/>
                </a:solidFill>
                <a:latin typeface="Arial"/>
              </a:rPr>
              <a:t>Fragen und Fachgespräch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328000"/>
            <a:ext cx="111132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90"/>
                </a:solidFill>
                <a:latin typeface="Arial"/>
              </a:rPr>
              <a:t>Johannes Nguyen  |  Fachinformatiker Systemintegration  |  DKFZ / ODCF  |  IHK Rhein-Neckar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