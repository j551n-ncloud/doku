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1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5537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Begrüßung</a:t>
            </a:r>
            <a:r>
              <a:rPr dirty="0"/>
              <a:t> des </a:t>
            </a:r>
            <a:r>
              <a:rPr dirty="0" err="1"/>
              <a:t>Prüfungsausschusses</a:t>
            </a:r>
            <a:r>
              <a:rPr dirty="0"/>
              <a:t>. Kurz </a:t>
            </a:r>
            <a:r>
              <a:rPr dirty="0" err="1"/>
              <a:t>vorstellen</a:t>
            </a:r>
            <a:r>
              <a:rPr dirty="0"/>
              <a:t>: Johannes Nguyen, </a:t>
            </a:r>
            <a:r>
              <a:rPr dirty="0" err="1"/>
              <a:t>Auszubildender</a:t>
            </a:r>
            <a:r>
              <a:rPr dirty="0"/>
              <a:t> </a:t>
            </a:r>
            <a:r>
              <a:rPr dirty="0" err="1"/>
              <a:t>zum</a:t>
            </a:r>
            <a:r>
              <a:rPr dirty="0"/>
              <a:t> </a:t>
            </a:r>
            <a:r>
              <a:rPr dirty="0" err="1"/>
              <a:t>Fachinformatiker</a:t>
            </a:r>
            <a:r>
              <a:rPr dirty="0"/>
              <a:t> </a:t>
            </a:r>
            <a:r>
              <a:rPr dirty="0" err="1"/>
              <a:t>Systemintegration</a:t>
            </a:r>
            <a:r>
              <a:rPr dirty="0"/>
              <a:t> am DKFZ.</a:t>
            </a:r>
          </a:p>
          <a:p>
            <a:r>
              <a:rPr dirty="0"/>
              <a:t>Thema: </a:t>
            </a:r>
            <a:r>
              <a:rPr dirty="0" err="1"/>
              <a:t>Einrichtung</a:t>
            </a:r>
            <a:r>
              <a:rPr dirty="0"/>
              <a:t> </a:t>
            </a:r>
            <a:r>
              <a:rPr dirty="0" err="1"/>
              <a:t>eines</a:t>
            </a:r>
            <a:r>
              <a:rPr dirty="0"/>
              <a:t> </a:t>
            </a:r>
            <a:r>
              <a:rPr dirty="0" err="1"/>
              <a:t>dedizierten</a:t>
            </a:r>
            <a:r>
              <a:rPr dirty="0"/>
              <a:t> </a:t>
            </a:r>
            <a:r>
              <a:rPr dirty="0" err="1"/>
              <a:t>Proxmox</a:t>
            </a:r>
            <a:r>
              <a:rPr dirty="0"/>
              <a:t> Backup Servers </a:t>
            </a:r>
            <a:r>
              <a:rPr dirty="0" err="1"/>
              <a:t>bei</a:t>
            </a:r>
            <a:r>
              <a:rPr dirty="0"/>
              <a:t> der ODCF.</a:t>
            </a:r>
          </a:p>
          <a:p>
            <a:r>
              <a:rPr dirty="0"/>
              <a:t>In den </a:t>
            </a:r>
            <a:r>
              <a:rPr dirty="0" err="1"/>
              <a:t>nächsten</a:t>
            </a:r>
            <a:r>
              <a:rPr dirty="0"/>
              <a:t> </a:t>
            </a:r>
            <a:r>
              <a:rPr dirty="0" err="1"/>
              <a:t>rund</a:t>
            </a:r>
            <a:r>
              <a:rPr dirty="0"/>
              <a:t> 15 Minuten </a:t>
            </a:r>
            <a:r>
              <a:rPr dirty="0" err="1"/>
              <a:t>zeige</a:t>
            </a:r>
            <a:r>
              <a:rPr dirty="0"/>
              <a:t> ich </a:t>
            </a:r>
            <a:r>
              <a:rPr dirty="0" err="1"/>
              <a:t>Ausgangslage</a:t>
            </a:r>
            <a:r>
              <a:rPr dirty="0"/>
              <a:t>, </a:t>
            </a:r>
            <a:r>
              <a:rPr dirty="0" err="1"/>
              <a:t>Lösung</a:t>
            </a:r>
            <a:r>
              <a:rPr dirty="0"/>
              <a:t> und </a:t>
            </a:r>
            <a:r>
              <a:rPr dirty="0" err="1"/>
              <a:t>Ergebnis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Kurzer </a:t>
            </a:r>
            <a:r>
              <a:rPr dirty="0" err="1"/>
              <a:t>Überblick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den </a:t>
            </a:r>
            <a:r>
              <a:rPr dirty="0" err="1"/>
              <a:t>Ablauf</a:t>
            </a:r>
            <a:r>
              <a:rPr dirty="0"/>
              <a:t>. Nicht </a:t>
            </a:r>
            <a:r>
              <a:rPr dirty="0" err="1"/>
              <a:t>vorlesen</a:t>
            </a:r>
            <a:r>
              <a:rPr dirty="0"/>
              <a:t>,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grob</a:t>
            </a:r>
            <a:r>
              <a:rPr dirty="0"/>
              <a:t> </a:t>
            </a:r>
            <a:r>
              <a:rPr dirty="0" err="1"/>
              <a:t>durchgehen</a:t>
            </a:r>
            <a:r>
              <a:rPr dirty="0"/>
              <a:t>.</a:t>
            </a:r>
          </a:p>
          <a:p>
            <a:r>
              <a:rPr dirty="0"/>
              <a:t>Erst der </a:t>
            </a:r>
            <a:r>
              <a:rPr dirty="0" err="1"/>
              <a:t>technische</a:t>
            </a:r>
            <a:r>
              <a:rPr dirty="0"/>
              <a:t> und </a:t>
            </a:r>
            <a:r>
              <a:rPr dirty="0" err="1"/>
              <a:t>betriebliche</a:t>
            </a:r>
            <a:r>
              <a:rPr dirty="0"/>
              <a:t> </a:t>
            </a:r>
            <a:r>
              <a:rPr dirty="0" err="1"/>
              <a:t>Kontext</a:t>
            </a:r>
            <a:r>
              <a:rPr dirty="0"/>
              <a:t>, </a:t>
            </a:r>
            <a:r>
              <a:rPr dirty="0" err="1"/>
              <a:t>dann</a:t>
            </a:r>
            <a:r>
              <a:rPr dirty="0"/>
              <a:t> </a:t>
            </a:r>
            <a:r>
              <a:rPr dirty="0" err="1"/>
              <a:t>Planung</a:t>
            </a:r>
            <a:r>
              <a:rPr dirty="0"/>
              <a:t> und </a:t>
            </a:r>
            <a:r>
              <a:rPr dirty="0" err="1"/>
              <a:t>Analyse</a:t>
            </a:r>
            <a:r>
              <a:rPr dirty="0"/>
              <a:t>, </a:t>
            </a:r>
            <a:r>
              <a:rPr dirty="0" err="1"/>
              <a:t>anschließend</a:t>
            </a:r>
            <a:r>
              <a:rPr dirty="0"/>
              <a:t> </a:t>
            </a:r>
            <a:r>
              <a:rPr dirty="0" err="1"/>
              <a:t>Entwurf</a:t>
            </a:r>
            <a:r>
              <a:rPr dirty="0"/>
              <a:t> und </a:t>
            </a:r>
            <a:r>
              <a:rPr dirty="0" err="1"/>
              <a:t>Umsetzung</a:t>
            </a:r>
            <a:r>
              <a:rPr dirty="0"/>
              <a:t>, am Ende </a:t>
            </a:r>
            <a:r>
              <a:rPr dirty="0" err="1"/>
              <a:t>Abnahme</a:t>
            </a:r>
            <a:r>
              <a:rPr dirty="0"/>
              <a:t>, </a:t>
            </a:r>
            <a:r>
              <a:rPr dirty="0" err="1"/>
              <a:t>Fazit</a:t>
            </a:r>
            <a:r>
              <a:rPr dirty="0"/>
              <a:t> und </a:t>
            </a:r>
            <a:r>
              <a:rPr dirty="0" err="1"/>
              <a:t>Ausblick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Damit alle die </a:t>
            </a:r>
            <a:r>
              <a:rPr dirty="0" err="1"/>
              <a:t>Begriffe</a:t>
            </a:r>
            <a:r>
              <a:rPr dirty="0"/>
              <a:t> </a:t>
            </a:r>
            <a:r>
              <a:rPr dirty="0" err="1"/>
              <a:t>einordnen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, </a:t>
            </a:r>
            <a:r>
              <a:rPr dirty="0" err="1"/>
              <a:t>kurz</a:t>
            </a:r>
            <a:r>
              <a:rPr dirty="0"/>
              <a:t> die vier </a:t>
            </a:r>
            <a:r>
              <a:rPr dirty="0" err="1"/>
              <a:t>Kerntechnologien</a:t>
            </a:r>
            <a:r>
              <a:rPr dirty="0"/>
              <a:t>.</a:t>
            </a:r>
          </a:p>
          <a:p>
            <a:r>
              <a:rPr dirty="0" err="1"/>
              <a:t>Proxmox</a:t>
            </a:r>
            <a:r>
              <a:rPr dirty="0"/>
              <a:t> VE: </a:t>
            </a:r>
            <a:r>
              <a:rPr dirty="0" err="1"/>
              <a:t>Virtualisierungsplattform</a:t>
            </a:r>
            <a:r>
              <a:rPr dirty="0"/>
              <a:t>, auf der die VMs und Container </a:t>
            </a:r>
            <a:r>
              <a:rPr dirty="0" err="1"/>
              <a:t>laufen</a:t>
            </a:r>
            <a:r>
              <a:rPr dirty="0"/>
              <a:t>,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6 Knoten.</a:t>
            </a:r>
          </a:p>
          <a:p>
            <a:r>
              <a:rPr dirty="0" err="1"/>
              <a:t>Proxmox</a:t>
            </a:r>
            <a:r>
              <a:rPr dirty="0"/>
              <a:t> Backup Server: die </a:t>
            </a:r>
            <a:r>
              <a:rPr dirty="0" err="1"/>
              <a:t>eigentliche</a:t>
            </a:r>
            <a:r>
              <a:rPr dirty="0"/>
              <a:t> Backup-</a:t>
            </a:r>
            <a:r>
              <a:rPr dirty="0" err="1"/>
              <a:t>Lösung</a:t>
            </a:r>
            <a:r>
              <a:rPr dirty="0"/>
              <a:t>, </a:t>
            </a:r>
            <a:r>
              <a:rPr dirty="0" err="1"/>
              <a:t>inkrementell</a:t>
            </a:r>
            <a:r>
              <a:rPr dirty="0"/>
              <a:t> und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Deduplizierung</a:t>
            </a:r>
            <a:r>
              <a:rPr dirty="0"/>
              <a:t>.</a:t>
            </a:r>
          </a:p>
          <a:p>
            <a:r>
              <a:rPr dirty="0"/>
              <a:t>Ceph: das </a:t>
            </a:r>
            <a:r>
              <a:rPr dirty="0" err="1"/>
              <a:t>verteilte</a:t>
            </a:r>
            <a:r>
              <a:rPr dirty="0"/>
              <a:t> </a:t>
            </a:r>
            <a:r>
              <a:rPr dirty="0" err="1"/>
              <a:t>Primär</a:t>
            </a:r>
            <a:r>
              <a:rPr dirty="0"/>
              <a:t>-Storage des Clusters.</a:t>
            </a:r>
          </a:p>
          <a:p>
            <a:r>
              <a:rPr dirty="0"/>
              <a:t>Hardware-RAID </a:t>
            </a:r>
            <a:r>
              <a:rPr dirty="0" err="1"/>
              <a:t>gegen</a:t>
            </a:r>
            <a:r>
              <a:rPr dirty="0"/>
              <a:t> ZFS: </a:t>
            </a:r>
            <a:r>
              <a:rPr dirty="0" err="1"/>
              <a:t>wichtig</a:t>
            </a:r>
            <a:r>
              <a:rPr dirty="0"/>
              <a:t> für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spätere</a:t>
            </a:r>
            <a:r>
              <a:rPr dirty="0"/>
              <a:t> </a:t>
            </a:r>
            <a:r>
              <a:rPr dirty="0" err="1"/>
              <a:t>Entscheidung</a:t>
            </a:r>
            <a:r>
              <a:rPr dirty="0"/>
              <a:t>, der </a:t>
            </a:r>
            <a:r>
              <a:rPr dirty="0" err="1"/>
              <a:t>alte</a:t>
            </a:r>
            <a:r>
              <a:rPr dirty="0"/>
              <a:t> Server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Hardware-RAID.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Das DKFZ </a:t>
            </a:r>
            <a:r>
              <a:rPr dirty="0" err="1"/>
              <a:t>ist</a:t>
            </a:r>
            <a:r>
              <a:rPr dirty="0"/>
              <a:t> die </a:t>
            </a:r>
            <a:r>
              <a:rPr dirty="0" err="1"/>
              <a:t>größte</a:t>
            </a:r>
            <a:r>
              <a:rPr dirty="0"/>
              <a:t> </a:t>
            </a:r>
            <a:r>
              <a:rPr dirty="0" err="1"/>
              <a:t>biomedizinische</a:t>
            </a:r>
            <a:r>
              <a:rPr dirty="0"/>
              <a:t> </a:t>
            </a:r>
            <a:r>
              <a:rPr dirty="0" err="1"/>
              <a:t>Forschungseinrichtung</a:t>
            </a:r>
            <a:r>
              <a:rPr dirty="0"/>
              <a:t> </a:t>
            </a:r>
            <a:r>
              <a:rPr dirty="0" err="1"/>
              <a:t>Deutschlands</a:t>
            </a:r>
            <a:r>
              <a:rPr dirty="0"/>
              <a:t> in Heidelberg.</a:t>
            </a:r>
          </a:p>
          <a:p>
            <a:r>
              <a:rPr dirty="0"/>
              <a:t>Die ODCF </a:t>
            </a:r>
            <a:r>
              <a:rPr dirty="0" err="1"/>
              <a:t>ist</a:t>
            </a:r>
            <a:r>
              <a:rPr dirty="0"/>
              <a:t> der interne IT-</a:t>
            </a:r>
            <a:r>
              <a:rPr dirty="0" err="1"/>
              <a:t>Dienstleister</a:t>
            </a:r>
            <a:r>
              <a:rPr dirty="0"/>
              <a:t> und </a:t>
            </a:r>
            <a:r>
              <a:rPr dirty="0" err="1"/>
              <a:t>betreibt</a:t>
            </a:r>
            <a:r>
              <a:rPr dirty="0"/>
              <a:t> </a:t>
            </a:r>
            <a:r>
              <a:rPr dirty="0" err="1"/>
              <a:t>unter</a:t>
            </a:r>
            <a:r>
              <a:rPr dirty="0"/>
              <a:t> </a:t>
            </a:r>
            <a:r>
              <a:rPr dirty="0" err="1"/>
              <a:t>anderem</a:t>
            </a:r>
            <a:r>
              <a:rPr dirty="0"/>
              <a:t> den </a:t>
            </a:r>
            <a:r>
              <a:rPr dirty="0" err="1"/>
              <a:t>Proxmox</a:t>
            </a:r>
            <a:r>
              <a:rPr dirty="0"/>
              <a:t>-Cluster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rund</a:t>
            </a:r>
            <a:r>
              <a:rPr dirty="0"/>
              <a:t> 60 VMs.</a:t>
            </a:r>
          </a:p>
          <a:p>
            <a:r>
              <a:rPr dirty="0"/>
              <a:t>Wichtig: internes Projekt, </a:t>
            </a:r>
            <a:r>
              <a:rPr dirty="0" err="1"/>
              <a:t>Auftraggeber</a:t>
            </a:r>
            <a:r>
              <a:rPr dirty="0"/>
              <a:t> und </a:t>
            </a:r>
            <a:r>
              <a:rPr dirty="0" err="1"/>
              <a:t>Auftragnehmer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beide</a:t>
            </a:r>
            <a:r>
              <a:rPr dirty="0"/>
              <a:t> das DKFZ. </a:t>
            </a:r>
            <a:r>
              <a:rPr dirty="0" err="1"/>
              <a:t>Auftraggeber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Frank Thommen.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Ausgangslage</a:t>
            </a:r>
            <a:r>
              <a:rPr dirty="0"/>
              <a:t> links: Backups </a:t>
            </a:r>
            <a:r>
              <a:rPr dirty="0" err="1"/>
              <a:t>lagen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lokal</a:t>
            </a:r>
            <a:r>
              <a:rPr dirty="0"/>
              <a:t> auf den </a:t>
            </a:r>
            <a:r>
              <a:rPr dirty="0" err="1"/>
              <a:t>Hypervisoren</a:t>
            </a:r>
            <a:r>
              <a:rPr dirty="0"/>
              <a:t>, die </a:t>
            </a:r>
            <a:r>
              <a:rPr dirty="0" err="1"/>
              <a:t>VxRail</a:t>
            </a:r>
            <a:r>
              <a:rPr dirty="0"/>
              <a:t>-Knoten </a:t>
            </a:r>
            <a:r>
              <a:rPr dirty="0" err="1"/>
              <a:t>hatten</a:t>
            </a:r>
            <a:r>
              <a:rPr dirty="0"/>
              <a:t> gar </a:t>
            </a:r>
            <a:r>
              <a:rPr dirty="0" err="1"/>
              <a:t>keinen</a:t>
            </a:r>
            <a:r>
              <a:rPr dirty="0"/>
              <a:t> </a:t>
            </a:r>
            <a:r>
              <a:rPr dirty="0" err="1"/>
              <a:t>lokalen</a:t>
            </a:r>
            <a:r>
              <a:rPr dirty="0"/>
              <a:t> Storage. </a:t>
            </a:r>
            <a:r>
              <a:rPr dirty="0" err="1"/>
              <a:t>Primär</a:t>
            </a:r>
            <a:r>
              <a:rPr dirty="0"/>
              <a:t>- und </a:t>
            </a:r>
            <a:r>
              <a:rPr dirty="0" err="1"/>
              <a:t>Sicherungsdaten</a:t>
            </a:r>
            <a:r>
              <a:rPr dirty="0"/>
              <a:t> </a:t>
            </a:r>
            <a:r>
              <a:rPr dirty="0" err="1"/>
              <a:t>lagen</a:t>
            </a:r>
            <a:r>
              <a:rPr dirty="0"/>
              <a:t> </a:t>
            </a:r>
            <a:r>
              <a:rPr dirty="0" err="1"/>
              <a:t>zusammen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zentrale</a:t>
            </a:r>
            <a:r>
              <a:rPr dirty="0"/>
              <a:t> Verwaltung,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Integritätsprüfung</a:t>
            </a:r>
            <a:r>
              <a:rPr dirty="0"/>
              <a:t>, Restores </a:t>
            </a:r>
            <a:r>
              <a:rPr dirty="0" err="1"/>
              <a:t>über</a:t>
            </a:r>
            <a:r>
              <a:rPr dirty="0"/>
              <a:t> Tape </a:t>
            </a:r>
            <a:r>
              <a:rPr dirty="0" err="1"/>
              <a:t>waren</a:t>
            </a:r>
            <a:r>
              <a:rPr dirty="0"/>
              <a:t> </a:t>
            </a:r>
            <a:r>
              <a:rPr dirty="0" err="1"/>
              <a:t>langsam</a:t>
            </a:r>
            <a:r>
              <a:rPr dirty="0"/>
              <a:t>.</a:t>
            </a:r>
          </a:p>
          <a:p>
            <a:r>
              <a:rPr dirty="0"/>
              <a:t>Das Ziel </a:t>
            </a:r>
            <a:r>
              <a:rPr dirty="0" err="1"/>
              <a:t>rechts</a:t>
            </a:r>
            <a:r>
              <a:rPr dirty="0"/>
              <a:t>: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dedizierter</a:t>
            </a:r>
            <a:r>
              <a:rPr dirty="0"/>
              <a:t>, </a:t>
            </a:r>
            <a:r>
              <a:rPr dirty="0" err="1"/>
              <a:t>zentraler</a:t>
            </a:r>
            <a:r>
              <a:rPr dirty="0"/>
              <a:t> Backup-Server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inkrementellen</a:t>
            </a:r>
            <a:r>
              <a:rPr dirty="0"/>
              <a:t> Backups, Monitoring und </a:t>
            </a:r>
            <a:r>
              <a:rPr dirty="0" err="1"/>
              <a:t>Dokumentation</a:t>
            </a:r>
            <a:r>
              <a:rPr dirty="0"/>
              <a:t>.</a:t>
            </a:r>
          </a:p>
          <a:p>
            <a:r>
              <a:rPr dirty="0" err="1"/>
              <a:t>Hinweis</a:t>
            </a:r>
            <a:r>
              <a:rPr dirty="0"/>
              <a:t> auf den Scope: 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Blueprint-</a:t>
            </a:r>
            <a:r>
              <a:rPr dirty="0" err="1"/>
              <a:t>Instanz</a:t>
            </a:r>
            <a:r>
              <a:rPr dirty="0"/>
              <a:t>, </a:t>
            </a:r>
            <a:r>
              <a:rPr dirty="0" err="1"/>
              <a:t>kein</a:t>
            </a:r>
            <a:r>
              <a:rPr dirty="0"/>
              <a:t> Ersatz der </a:t>
            </a:r>
            <a:r>
              <a:rPr dirty="0" err="1"/>
              <a:t>bestehenden</a:t>
            </a:r>
            <a:r>
              <a:rPr dirty="0"/>
              <a:t> </a:t>
            </a:r>
            <a:r>
              <a:rPr dirty="0" err="1"/>
              <a:t>Sicherung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40 </a:t>
            </a:r>
            <a:r>
              <a:rPr dirty="0" err="1"/>
              <a:t>Stunden</a:t>
            </a:r>
            <a:r>
              <a:rPr dirty="0"/>
              <a:t> </a:t>
            </a:r>
            <a:r>
              <a:rPr dirty="0" err="1"/>
              <a:t>Gesamtbudget</a:t>
            </a:r>
            <a:r>
              <a:rPr dirty="0"/>
              <a:t>, </a:t>
            </a:r>
            <a:r>
              <a:rPr dirty="0" err="1"/>
              <a:t>davon</a:t>
            </a:r>
            <a:r>
              <a:rPr dirty="0"/>
              <a:t> maximal 8 </a:t>
            </a:r>
            <a:r>
              <a:rPr dirty="0" err="1"/>
              <a:t>Stunden</a:t>
            </a:r>
            <a:r>
              <a:rPr dirty="0"/>
              <a:t> </a:t>
            </a:r>
            <a:r>
              <a:rPr dirty="0" err="1"/>
              <a:t>Dokumentation</a:t>
            </a:r>
            <a:r>
              <a:rPr dirty="0"/>
              <a:t>.</a:t>
            </a:r>
          </a:p>
          <a:p>
            <a:r>
              <a:rPr dirty="0"/>
              <a:t>Der Balken </a:t>
            </a:r>
            <a:r>
              <a:rPr dirty="0" err="1"/>
              <a:t>zeigt</a:t>
            </a:r>
            <a:r>
              <a:rPr dirty="0"/>
              <a:t> die </a:t>
            </a:r>
            <a:r>
              <a:rPr dirty="0" err="1"/>
              <a:t>Aufteilung</a:t>
            </a:r>
            <a:r>
              <a:rPr dirty="0"/>
              <a:t> auf die </a:t>
            </a:r>
            <a:r>
              <a:rPr dirty="0" err="1"/>
              <a:t>Phasen</a:t>
            </a:r>
            <a:r>
              <a:rPr dirty="0"/>
              <a:t> von </a:t>
            </a:r>
            <a:r>
              <a:rPr dirty="0" err="1"/>
              <a:t>Analyse</a:t>
            </a:r>
            <a:r>
              <a:rPr dirty="0"/>
              <a:t> bis </a:t>
            </a:r>
            <a:r>
              <a:rPr dirty="0" err="1"/>
              <a:t>Dokumentation</a:t>
            </a:r>
            <a:r>
              <a:rPr dirty="0"/>
              <a:t>.</a:t>
            </a:r>
          </a:p>
          <a:p>
            <a:r>
              <a:rPr dirty="0" err="1"/>
              <a:t>Vorgehen</a:t>
            </a:r>
            <a:r>
              <a:rPr dirty="0"/>
              <a:t> war </a:t>
            </a:r>
            <a:r>
              <a:rPr dirty="0" err="1"/>
              <a:t>iterativ</a:t>
            </a:r>
            <a:r>
              <a:rPr dirty="0"/>
              <a:t>,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jeder</a:t>
            </a:r>
            <a:r>
              <a:rPr dirty="0"/>
              <a:t> Phase </a:t>
            </a:r>
            <a:r>
              <a:rPr dirty="0" err="1"/>
              <a:t>kurze</a:t>
            </a:r>
            <a:r>
              <a:rPr dirty="0"/>
              <a:t> </a:t>
            </a:r>
            <a:r>
              <a:rPr dirty="0" err="1"/>
              <a:t>Abstimmung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dem </a:t>
            </a:r>
            <a:r>
              <a:rPr dirty="0" err="1"/>
              <a:t>Betreuer</a:t>
            </a:r>
            <a:r>
              <a:rPr dirty="0"/>
              <a:t>.</a:t>
            </a:r>
          </a:p>
          <a:p>
            <a:r>
              <a:rPr dirty="0"/>
              <a:t>Hardware war </a:t>
            </a:r>
            <a:r>
              <a:rPr dirty="0" err="1"/>
              <a:t>Bestandshardware</a:t>
            </a:r>
            <a:r>
              <a:rPr dirty="0"/>
              <a:t>, Software </a:t>
            </a:r>
            <a:r>
              <a:rPr dirty="0" err="1"/>
              <a:t>komplett</a:t>
            </a:r>
            <a:r>
              <a:rPr dirty="0"/>
              <a:t> Open Source, </a:t>
            </a:r>
            <a:r>
              <a:rPr dirty="0" err="1"/>
              <a:t>daher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Lizenzkosten.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Aus </a:t>
            </a:r>
            <a:r>
              <a:rPr dirty="0" err="1"/>
              <a:t>Antrag</a:t>
            </a:r>
            <a:r>
              <a:rPr dirty="0"/>
              <a:t> und </a:t>
            </a:r>
            <a:r>
              <a:rPr dirty="0" err="1"/>
              <a:t>Ist-Analyse</a:t>
            </a:r>
            <a:r>
              <a:rPr dirty="0"/>
              <a:t> </a:t>
            </a:r>
            <a:r>
              <a:rPr dirty="0" err="1"/>
              <a:t>ergeben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funktionale</a:t>
            </a:r>
            <a:r>
              <a:rPr dirty="0"/>
              <a:t> und nicht-</a:t>
            </a:r>
            <a:r>
              <a:rPr dirty="0" err="1"/>
              <a:t>funktionale</a:t>
            </a:r>
            <a:r>
              <a:rPr dirty="0"/>
              <a:t> </a:t>
            </a:r>
            <a:r>
              <a:rPr dirty="0" err="1"/>
              <a:t>Anforderungen</a:t>
            </a:r>
            <a:r>
              <a:rPr dirty="0"/>
              <a:t>, links die </a:t>
            </a:r>
            <a:r>
              <a:rPr dirty="0" err="1"/>
              <a:t>wichtigsten</a:t>
            </a:r>
            <a:r>
              <a:rPr dirty="0"/>
              <a:t>.</a:t>
            </a:r>
          </a:p>
          <a:p>
            <a:r>
              <a:rPr dirty="0"/>
              <a:t>Bei der </a:t>
            </a:r>
            <a:r>
              <a:rPr dirty="0" err="1"/>
              <a:t>Wirtschaftlichkeit</a:t>
            </a:r>
            <a:r>
              <a:rPr dirty="0"/>
              <a:t>: </a:t>
            </a:r>
            <a:r>
              <a:rPr dirty="0" err="1"/>
              <a:t>rund</a:t>
            </a:r>
            <a:r>
              <a:rPr dirty="0"/>
              <a:t> 1.600 Euro </a:t>
            </a:r>
            <a:r>
              <a:rPr dirty="0" err="1"/>
              <a:t>Projektkosten</a:t>
            </a:r>
            <a:r>
              <a:rPr dirty="0"/>
              <a:t>, 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/>
              <a:t>Wesentlichen</a:t>
            </a:r>
            <a:r>
              <a:rPr dirty="0"/>
              <a:t> </a:t>
            </a:r>
            <a:r>
              <a:rPr dirty="0" err="1"/>
              <a:t>Arbeitszeit</a:t>
            </a:r>
            <a:r>
              <a:rPr dirty="0"/>
              <a:t>, da Hardware und Software </a:t>
            </a:r>
            <a:r>
              <a:rPr dirty="0" err="1"/>
              <a:t>nichts</a:t>
            </a:r>
            <a:r>
              <a:rPr dirty="0"/>
              <a:t> </a:t>
            </a:r>
            <a:r>
              <a:rPr dirty="0" err="1"/>
              <a:t>kosten</a:t>
            </a:r>
            <a:r>
              <a:rPr dirty="0"/>
              <a:t>.</a:t>
            </a:r>
          </a:p>
          <a:p>
            <a:r>
              <a:rPr dirty="0"/>
              <a:t>Der </a:t>
            </a:r>
            <a:r>
              <a:rPr dirty="0" err="1"/>
              <a:t>Nutzen</a:t>
            </a:r>
            <a:r>
              <a:rPr dirty="0"/>
              <a:t> </a:t>
            </a:r>
            <a:r>
              <a:rPr dirty="0" err="1"/>
              <a:t>rechts</a:t>
            </a:r>
            <a:r>
              <a:rPr dirty="0"/>
              <a:t>: </a:t>
            </a:r>
            <a:r>
              <a:rPr dirty="0" err="1"/>
              <a:t>deutlich</a:t>
            </a:r>
            <a:r>
              <a:rPr dirty="0"/>
              <a:t> </a:t>
            </a:r>
            <a:r>
              <a:rPr dirty="0" err="1"/>
              <a:t>schnellere</a:t>
            </a:r>
            <a:r>
              <a:rPr dirty="0"/>
              <a:t> Restores, </a:t>
            </a:r>
            <a:r>
              <a:rPr dirty="0" err="1"/>
              <a:t>zentrale</a:t>
            </a:r>
            <a:r>
              <a:rPr dirty="0"/>
              <a:t> Verwaltung, </a:t>
            </a:r>
            <a:r>
              <a:rPr dirty="0" err="1"/>
              <a:t>Integritätsprüfung</a:t>
            </a:r>
            <a:r>
              <a:rPr dirty="0"/>
              <a:t>. Ein </a:t>
            </a:r>
            <a:r>
              <a:rPr dirty="0" err="1"/>
              <a:t>einziger</a:t>
            </a:r>
            <a:r>
              <a:rPr dirty="0"/>
              <a:t> </a:t>
            </a:r>
            <a:r>
              <a:rPr dirty="0" err="1"/>
              <a:t>vermiedener</a:t>
            </a:r>
            <a:r>
              <a:rPr dirty="0"/>
              <a:t> </a:t>
            </a:r>
            <a:r>
              <a:rPr dirty="0" err="1"/>
              <a:t>langer</a:t>
            </a:r>
            <a:r>
              <a:rPr dirty="0"/>
              <a:t> Restore </a:t>
            </a:r>
            <a:r>
              <a:rPr dirty="0" err="1"/>
              <a:t>amortisiert</a:t>
            </a:r>
            <a:r>
              <a:rPr dirty="0"/>
              <a:t> das 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Hier die vier </a:t>
            </a:r>
            <a:r>
              <a:rPr dirty="0" err="1"/>
              <a:t>zentralen</a:t>
            </a:r>
            <a:r>
              <a:rPr dirty="0"/>
              <a:t> </a:t>
            </a:r>
            <a:r>
              <a:rPr dirty="0" err="1"/>
              <a:t>Entscheidungen</a:t>
            </a:r>
            <a:r>
              <a:rPr dirty="0"/>
              <a:t>, </a:t>
            </a:r>
            <a:r>
              <a:rPr dirty="0" err="1"/>
              <a:t>jeweils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Begründung</a:t>
            </a:r>
            <a:r>
              <a:rPr dirty="0"/>
              <a:t>.</a:t>
            </a:r>
          </a:p>
          <a:p>
            <a:r>
              <a:rPr dirty="0"/>
              <a:t>PBS </a:t>
            </a:r>
            <a:r>
              <a:rPr dirty="0" err="1"/>
              <a:t>statt</a:t>
            </a:r>
            <a:r>
              <a:rPr dirty="0"/>
              <a:t> Veeam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Bacula</a:t>
            </a:r>
            <a:r>
              <a:rPr dirty="0"/>
              <a:t>: </a:t>
            </a:r>
            <a:r>
              <a:rPr dirty="0" err="1"/>
              <a:t>vom</a:t>
            </a:r>
            <a:r>
              <a:rPr dirty="0"/>
              <a:t> </a:t>
            </a:r>
            <a:r>
              <a:rPr dirty="0" err="1"/>
              <a:t>Auftraggeber</a:t>
            </a:r>
            <a:r>
              <a:rPr dirty="0"/>
              <a:t> </a:t>
            </a:r>
            <a:r>
              <a:rPr dirty="0" err="1"/>
              <a:t>vorgegeben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Lizenzkosten</a:t>
            </a:r>
            <a:r>
              <a:rPr dirty="0"/>
              <a:t>, </a:t>
            </a:r>
            <a:r>
              <a:rPr dirty="0" err="1"/>
              <a:t>nativ</a:t>
            </a:r>
            <a:r>
              <a:rPr dirty="0"/>
              <a:t> in PVE </a:t>
            </a:r>
            <a:r>
              <a:rPr dirty="0" err="1"/>
              <a:t>integriert</a:t>
            </a:r>
            <a:r>
              <a:rPr dirty="0"/>
              <a:t>.</a:t>
            </a:r>
          </a:p>
          <a:p>
            <a:r>
              <a:rPr dirty="0"/>
              <a:t>IBM x3755: </a:t>
            </a:r>
            <a:r>
              <a:rPr dirty="0" err="1"/>
              <a:t>Bestandshardware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Beschaffung </a:t>
            </a:r>
            <a:r>
              <a:rPr dirty="0" err="1"/>
              <a:t>nötig</a:t>
            </a:r>
            <a:r>
              <a:rPr dirty="0"/>
              <a:t>.</a:t>
            </a:r>
          </a:p>
          <a:p>
            <a:r>
              <a:rPr dirty="0"/>
              <a:t>Hardware-RAID 5 </a:t>
            </a:r>
            <a:r>
              <a:rPr dirty="0" err="1"/>
              <a:t>statt</a:t>
            </a:r>
            <a:r>
              <a:rPr dirty="0"/>
              <a:t> ZFS: der Server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Hardware-RAID, ZFS </a:t>
            </a:r>
            <a:r>
              <a:rPr dirty="0" err="1"/>
              <a:t>bräuchte</a:t>
            </a:r>
            <a:r>
              <a:rPr dirty="0"/>
              <a:t> </a:t>
            </a:r>
            <a:r>
              <a:rPr dirty="0" err="1"/>
              <a:t>direkten</a:t>
            </a:r>
            <a:r>
              <a:rPr dirty="0"/>
              <a:t> Disk-</a:t>
            </a:r>
            <a:r>
              <a:rPr dirty="0" err="1"/>
              <a:t>Zugriff</a:t>
            </a:r>
            <a:r>
              <a:rPr dirty="0"/>
              <a:t>. Bei </a:t>
            </a:r>
            <a:r>
              <a:rPr dirty="0" err="1"/>
              <a:t>neuer</a:t>
            </a:r>
            <a:r>
              <a:rPr dirty="0"/>
              <a:t> Hardware </a:t>
            </a:r>
            <a:r>
              <a:rPr dirty="0" err="1"/>
              <a:t>wäre</a:t>
            </a:r>
            <a:r>
              <a:rPr dirty="0"/>
              <a:t> ZFS die </a:t>
            </a:r>
            <a:r>
              <a:rPr dirty="0" err="1"/>
              <a:t>bevorzugte</a:t>
            </a:r>
            <a:r>
              <a:rPr dirty="0"/>
              <a:t> </a:t>
            </a:r>
            <a:r>
              <a:rPr dirty="0" err="1"/>
              <a:t>Lösung</a:t>
            </a:r>
            <a:r>
              <a:rPr dirty="0"/>
              <a:t>.</a:t>
            </a:r>
          </a:p>
          <a:p>
            <a:r>
              <a:rPr dirty="0"/>
              <a:t>ext4: </a:t>
            </a:r>
            <a:r>
              <a:rPr dirty="0" err="1"/>
              <a:t>folgt</a:t>
            </a:r>
            <a:r>
              <a:rPr dirty="0"/>
              <a:t> </a:t>
            </a:r>
            <a:r>
              <a:rPr dirty="0" err="1"/>
              <a:t>zwingend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der RAID-</a:t>
            </a:r>
            <a:r>
              <a:rPr dirty="0" err="1"/>
              <a:t>Entscheidung</a:t>
            </a:r>
            <a:r>
              <a:rPr dirty="0"/>
              <a:t>, </a:t>
            </a:r>
            <a:r>
              <a:rPr dirty="0" err="1"/>
              <a:t>Integrität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den PBS-Verify-Job </a:t>
            </a:r>
            <a:r>
              <a:rPr dirty="0" err="1"/>
              <a:t>sichergestellt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Architektur</a:t>
            </a:r>
            <a:r>
              <a:rPr dirty="0"/>
              <a:t>: der PBS </a:t>
            </a:r>
            <a:r>
              <a:rPr dirty="0" err="1"/>
              <a:t>hängt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server-VLAN am PVE-Cluster, </a:t>
            </a:r>
            <a:r>
              <a:rPr dirty="0" err="1"/>
              <a:t>angebunden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gebündelte</a:t>
            </a:r>
            <a:r>
              <a:rPr dirty="0"/>
              <a:t> 10-Gigabit-Leitungen.</a:t>
            </a:r>
          </a:p>
          <a:p>
            <a:r>
              <a:rPr dirty="0" err="1"/>
              <a:t>Authentifizierung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das DKFZ-LDAP plus </a:t>
            </a:r>
            <a:r>
              <a:rPr dirty="0" err="1"/>
              <a:t>lokaler</a:t>
            </a:r>
            <a:r>
              <a:rPr dirty="0"/>
              <a:t> root für den </a:t>
            </a:r>
            <a:r>
              <a:rPr dirty="0" err="1"/>
              <a:t>Notfall</a:t>
            </a:r>
            <a:r>
              <a:rPr dirty="0"/>
              <a:t>.</a:t>
            </a:r>
          </a:p>
          <a:p>
            <a:r>
              <a:rPr dirty="0"/>
              <a:t>Monitoring </a:t>
            </a:r>
            <a:r>
              <a:rPr dirty="0" err="1"/>
              <a:t>über</a:t>
            </a:r>
            <a:r>
              <a:rPr dirty="0"/>
              <a:t> pbs-exporter und Prometheus, </a:t>
            </a:r>
            <a:r>
              <a:rPr dirty="0" err="1"/>
              <a:t>Benachrichtigung</a:t>
            </a:r>
            <a:r>
              <a:rPr dirty="0"/>
              <a:t> per E-Mail.</a:t>
            </a:r>
          </a:p>
          <a:p>
            <a:r>
              <a:rPr dirty="0"/>
              <a:t>Backup-</a:t>
            </a:r>
            <a:r>
              <a:rPr dirty="0" err="1"/>
              <a:t>Konzept</a:t>
            </a:r>
            <a:r>
              <a:rPr dirty="0"/>
              <a:t> </a:t>
            </a:r>
            <a:r>
              <a:rPr dirty="0" err="1"/>
              <a:t>unten</a:t>
            </a:r>
            <a:r>
              <a:rPr dirty="0"/>
              <a:t>: </a:t>
            </a:r>
            <a:r>
              <a:rPr dirty="0" err="1"/>
              <a:t>zwei</a:t>
            </a:r>
            <a:r>
              <a:rPr dirty="0"/>
              <a:t> Klassen, </a:t>
            </a:r>
            <a:r>
              <a:rPr dirty="0" err="1"/>
              <a:t>beide</a:t>
            </a:r>
            <a:r>
              <a:rPr dirty="0"/>
              <a:t> </a:t>
            </a:r>
            <a:r>
              <a:rPr dirty="0" err="1"/>
              <a:t>zweimal</a:t>
            </a:r>
            <a:r>
              <a:rPr dirty="0"/>
              <a:t> </a:t>
            </a:r>
            <a:r>
              <a:rPr dirty="0" err="1"/>
              <a:t>täglich</a:t>
            </a:r>
            <a:r>
              <a:rPr dirty="0"/>
              <a:t>, die </a:t>
            </a:r>
            <a:r>
              <a:rPr dirty="0" err="1"/>
              <a:t>letzten</a:t>
            </a:r>
            <a:r>
              <a:rPr dirty="0"/>
              <a:t> </a:t>
            </a:r>
            <a:r>
              <a:rPr dirty="0" err="1"/>
              <a:t>drei</a:t>
            </a:r>
            <a:r>
              <a:rPr dirty="0"/>
              <a:t> </a:t>
            </a:r>
            <a:r>
              <a:rPr dirty="0" err="1"/>
              <a:t>Sicherungen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aufbewahrt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Umsetzung</a:t>
            </a:r>
            <a:r>
              <a:rPr dirty="0"/>
              <a:t> in vier </a:t>
            </a:r>
            <a:r>
              <a:rPr dirty="0" err="1"/>
              <a:t>Schritten</a:t>
            </a:r>
            <a:r>
              <a:rPr dirty="0"/>
              <a:t>.</a:t>
            </a:r>
          </a:p>
          <a:p>
            <a:r>
              <a:rPr dirty="0"/>
              <a:t>Erst Hardware </a:t>
            </a:r>
            <a:r>
              <a:rPr dirty="0" err="1"/>
              <a:t>vorbereiten</a:t>
            </a:r>
            <a:r>
              <a:rPr dirty="0"/>
              <a:t>: RAID-Controller und </a:t>
            </a:r>
            <a:r>
              <a:rPr dirty="0" err="1"/>
              <a:t>Netzwerkkarte</a:t>
            </a:r>
            <a:r>
              <a:rPr dirty="0"/>
              <a:t>, </a:t>
            </a:r>
            <a:r>
              <a:rPr dirty="0" err="1"/>
              <a:t>hier</a:t>
            </a:r>
            <a:r>
              <a:rPr dirty="0"/>
              <a:t> gab es </a:t>
            </a:r>
            <a:r>
              <a:rPr dirty="0" err="1"/>
              <a:t>Mehraufwand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 den RAID-Controller.</a:t>
            </a:r>
          </a:p>
          <a:p>
            <a:r>
              <a:rPr dirty="0"/>
              <a:t>Dann PBS </a:t>
            </a:r>
            <a:r>
              <a:rPr dirty="0" err="1"/>
              <a:t>installieren</a:t>
            </a:r>
            <a:r>
              <a:rPr dirty="0"/>
              <a:t> und </a:t>
            </a:r>
            <a:r>
              <a:rPr dirty="0" err="1"/>
              <a:t>grundkonfigurieren</a:t>
            </a:r>
            <a:r>
              <a:rPr dirty="0"/>
              <a:t>.</a:t>
            </a:r>
          </a:p>
          <a:p>
            <a:r>
              <a:rPr dirty="0"/>
              <a:t>Datastore </a:t>
            </a:r>
            <a:r>
              <a:rPr dirty="0" err="1"/>
              <a:t>anlegen</a:t>
            </a:r>
            <a:r>
              <a:rPr dirty="0"/>
              <a:t> und LDAP </a:t>
            </a:r>
            <a:r>
              <a:rPr dirty="0" err="1"/>
              <a:t>anbinden</a:t>
            </a:r>
            <a:r>
              <a:rPr dirty="0"/>
              <a:t>.</a:t>
            </a:r>
          </a:p>
          <a:p>
            <a:r>
              <a:rPr dirty="0" err="1"/>
              <a:t>Zuletzt</a:t>
            </a:r>
            <a:r>
              <a:rPr dirty="0"/>
              <a:t> Integration in den PVE-Cluster und </a:t>
            </a:r>
            <a:r>
              <a:rPr dirty="0" err="1"/>
              <a:t>Einrichtung</a:t>
            </a:r>
            <a:r>
              <a:rPr dirty="0"/>
              <a:t> der Backup-Jobs, </a:t>
            </a:r>
            <a:r>
              <a:rPr dirty="0" err="1"/>
              <a:t>vorher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Test-Backup </a:t>
            </a:r>
            <a:r>
              <a:rPr dirty="0" err="1"/>
              <a:t>geprüft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Alle Tests </a:t>
            </a:r>
            <a:r>
              <a:rPr dirty="0" err="1"/>
              <a:t>gegen</a:t>
            </a:r>
            <a:r>
              <a:rPr dirty="0"/>
              <a:t> das Backup-</a:t>
            </a:r>
            <a:r>
              <a:rPr dirty="0" err="1"/>
              <a:t>Konzept</a:t>
            </a:r>
            <a:r>
              <a:rPr dirty="0"/>
              <a:t> </a:t>
            </a:r>
            <a:r>
              <a:rPr dirty="0" err="1"/>
              <a:t>wurden</a:t>
            </a:r>
            <a:r>
              <a:rPr dirty="0"/>
              <a:t> </a:t>
            </a:r>
            <a:r>
              <a:rPr dirty="0" err="1"/>
              <a:t>erfolgreich</a:t>
            </a:r>
            <a:r>
              <a:rPr dirty="0"/>
              <a:t> </a:t>
            </a:r>
            <a:r>
              <a:rPr dirty="0" err="1"/>
              <a:t>durchlaufen</a:t>
            </a:r>
            <a:r>
              <a:rPr dirty="0"/>
              <a:t>: Backup-Job, LDAP-Login, E-Mail, Monitoring, Storage-</a:t>
            </a:r>
            <a:r>
              <a:rPr dirty="0" err="1"/>
              <a:t>Trennung</a:t>
            </a:r>
            <a:r>
              <a:rPr dirty="0"/>
              <a:t>.</a:t>
            </a:r>
          </a:p>
          <a:p>
            <a:r>
              <a:rPr dirty="0" err="1"/>
              <a:t>Besonders</a:t>
            </a:r>
            <a:r>
              <a:rPr dirty="0"/>
              <a:t> </a:t>
            </a:r>
            <a:r>
              <a:rPr dirty="0" err="1"/>
              <a:t>wichtig</a:t>
            </a:r>
            <a:r>
              <a:rPr dirty="0"/>
              <a:t> die Restore-Tests: </a:t>
            </a:r>
            <a:r>
              <a:rPr dirty="0" err="1"/>
              <a:t>einzelne</a:t>
            </a:r>
            <a:r>
              <a:rPr dirty="0"/>
              <a:t> </a:t>
            </a:r>
            <a:r>
              <a:rPr dirty="0" err="1"/>
              <a:t>Dateien</a:t>
            </a:r>
            <a:r>
              <a:rPr dirty="0"/>
              <a:t>, </a:t>
            </a:r>
            <a:r>
              <a:rPr dirty="0" err="1"/>
              <a:t>ganze</a:t>
            </a:r>
            <a:r>
              <a:rPr dirty="0"/>
              <a:t> VM und Container, alle </a:t>
            </a:r>
            <a:r>
              <a:rPr dirty="0" err="1"/>
              <a:t>erfolgreich</a:t>
            </a:r>
            <a:r>
              <a:rPr dirty="0"/>
              <a:t>.</a:t>
            </a:r>
          </a:p>
          <a:p>
            <a:r>
              <a:rPr dirty="0" err="1"/>
              <a:t>Integritätsprüfung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den Verify-Job </a:t>
            </a:r>
            <a:r>
              <a:rPr dirty="0" err="1"/>
              <a:t>bestanden</a:t>
            </a:r>
            <a:r>
              <a:rPr dirty="0"/>
              <a:t>.</a:t>
            </a:r>
          </a:p>
          <a:p>
            <a:r>
              <a:rPr dirty="0"/>
              <a:t>Abnahme </a:t>
            </a:r>
            <a:r>
              <a:rPr dirty="0" err="1"/>
              <a:t>wurde</a:t>
            </a:r>
            <a:r>
              <a:rPr dirty="0"/>
              <a:t> von Frank Thommen </a:t>
            </a:r>
            <a:r>
              <a:rPr dirty="0" err="1"/>
              <a:t>erteilt</a:t>
            </a:r>
            <a:r>
              <a:rPr dirty="0"/>
              <a:t>, Restores </a:t>
            </a:r>
            <a:r>
              <a:rPr dirty="0" err="1"/>
              <a:t>deutlich</a:t>
            </a:r>
            <a:r>
              <a:rPr dirty="0"/>
              <a:t> </a:t>
            </a:r>
            <a:r>
              <a:rPr dirty="0" err="1"/>
              <a:t>schneller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Soll-</a:t>
            </a:r>
            <a:r>
              <a:rPr dirty="0" err="1"/>
              <a:t>Ist</a:t>
            </a:r>
            <a:r>
              <a:rPr dirty="0"/>
              <a:t>-</a:t>
            </a:r>
            <a:r>
              <a:rPr dirty="0" err="1"/>
              <a:t>Vergleich</a:t>
            </a:r>
            <a:r>
              <a:rPr dirty="0"/>
              <a:t>: </a:t>
            </a:r>
            <a:r>
              <a:rPr dirty="0" err="1"/>
              <a:t>insgesamt</a:t>
            </a:r>
            <a:r>
              <a:rPr dirty="0"/>
              <a:t> 34,5 </a:t>
            </a:r>
            <a:r>
              <a:rPr dirty="0" err="1"/>
              <a:t>statt</a:t>
            </a:r>
            <a:r>
              <a:rPr dirty="0"/>
              <a:t> 40 </a:t>
            </a:r>
            <a:r>
              <a:rPr dirty="0" err="1"/>
              <a:t>Stunden</a:t>
            </a:r>
            <a:r>
              <a:rPr dirty="0"/>
              <a:t>, also </a:t>
            </a:r>
            <a:r>
              <a:rPr dirty="0" err="1"/>
              <a:t>leicht</a:t>
            </a:r>
            <a:r>
              <a:rPr dirty="0"/>
              <a:t> </a:t>
            </a:r>
            <a:r>
              <a:rPr dirty="0" err="1"/>
              <a:t>unter</a:t>
            </a:r>
            <a:r>
              <a:rPr dirty="0"/>
              <a:t> Budget.</a:t>
            </a:r>
          </a:p>
          <a:p>
            <a:r>
              <a:rPr dirty="0" err="1"/>
              <a:t>Mehraufwand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Beschaffung</a:t>
            </a:r>
            <a:r>
              <a:rPr dirty="0"/>
              <a:t> und Installation, </a:t>
            </a:r>
            <a:r>
              <a:rPr dirty="0" err="1"/>
              <a:t>dafür</a:t>
            </a:r>
            <a:r>
              <a:rPr dirty="0"/>
              <a:t> </a:t>
            </a:r>
            <a:r>
              <a:rPr dirty="0" err="1"/>
              <a:t>schneller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Konfiguration</a:t>
            </a:r>
            <a:r>
              <a:rPr dirty="0"/>
              <a:t> und </a:t>
            </a:r>
            <a:r>
              <a:rPr dirty="0" err="1"/>
              <a:t>Anbindung</a:t>
            </a:r>
            <a:r>
              <a:rPr dirty="0"/>
              <a:t>, </a:t>
            </a:r>
            <a:r>
              <a:rPr dirty="0" err="1"/>
              <a:t>weil</a:t>
            </a:r>
            <a:r>
              <a:rPr dirty="0"/>
              <a:t> PBS und PVE gut </a:t>
            </a:r>
            <a:r>
              <a:rPr dirty="0" err="1"/>
              <a:t>toolunterstützt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.</a:t>
            </a:r>
          </a:p>
          <a:p>
            <a:r>
              <a:rPr dirty="0"/>
              <a:t>Lessons Learned </a:t>
            </a:r>
            <a:r>
              <a:rPr dirty="0" err="1"/>
              <a:t>unten</a:t>
            </a:r>
            <a:r>
              <a:rPr dirty="0"/>
              <a:t>: </a:t>
            </a:r>
            <a:r>
              <a:rPr dirty="0" err="1"/>
              <a:t>frühe</a:t>
            </a:r>
            <a:r>
              <a:rPr dirty="0"/>
              <a:t> </a:t>
            </a:r>
            <a:r>
              <a:rPr dirty="0" err="1"/>
              <a:t>Netzwerk-Abstimmung</a:t>
            </a:r>
            <a:r>
              <a:rPr dirty="0"/>
              <a:t> </a:t>
            </a:r>
            <a:r>
              <a:rPr dirty="0" err="1"/>
              <a:t>wichtig</a:t>
            </a:r>
            <a:r>
              <a:rPr dirty="0"/>
              <a:t>, </a:t>
            </a:r>
            <a:r>
              <a:rPr dirty="0" err="1"/>
              <a:t>Altbestands</a:t>
            </a:r>
            <a:r>
              <a:rPr dirty="0"/>
              <a:t>-Hardware </a:t>
            </a:r>
            <a:r>
              <a:rPr dirty="0" err="1"/>
              <a:t>begrenzt</a:t>
            </a:r>
            <a:r>
              <a:rPr dirty="0"/>
              <a:t> die </a:t>
            </a:r>
            <a:r>
              <a:rPr dirty="0" err="1"/>
              <a:t>Dateisystemwahl</a:t>
            </a:r>
            <a:r>
              <a:rPr dirty="0"/>
              <a:t>, </a:t>
            </a:r>
            <a:r>
              <a:rPr dirty="0" err="1"/>
              <a:t>gute</a:t>
            </a:r>
            <a:r>
              <a:rPr dirty="0"/>
              <a:t> </a:t>
            </a:r>
            <a:r>
              <a:rPr dirty="0" err="1"/>
              <a:t>Betriebsdoku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genauso</a:t>
            </a:r>
            <a:r>
              <a:rPr dirty="0"/>
              <a:t> </a:t>
            </a:r>
            <a:r>
              <a:rPr dirty="0" err="1"/>
              <a:t>wertvoll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die </a:t>
            </a:r>
            <a:r>
              <a:rPr dirty="0" err="1"/>
              <a:t>Umsetzung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Ausblick</a:t>
            </a:r>
            <a:r>
              <a:rPr dirty="0"/>
              <a:t> in </a:t>
            </a:r>
            <a:r>
              <a:rPr dirty="0" err="1"/>
              <a:t>drei</a:t>
            </a:r>
            <a:r>
              <a:rPr dirty="0"/>
              <a:t> </a:t>
            </a:r>
            <a:r>
              <a:rPr dirty="0" err="1"/>
              <a:t>Horizonten</a:t>
            </a:r>
            <a:r>
              <a:rPr dirty="0"/>
              <a:t>.</a:t>
            </a:r>
          </a:p>
          <a:p>
            <a:r>
              <a:rPr dirty="0" err="1"/>
              <a:t>Kurzfristig</a:t>
            </a:r>
            <a:r>
              <a:rPr dirty="0"/>
              <a:t>: </a:t>
            </a:r>
            <a:r>
              <a:rPr dirty="0" err="1"/>
              <a:t>produktive</a:t>
            </a:r>
            <a:r>
              <a:rPr dirty="0"/>
              <a:t> </a:t>
            </a:r>
            <a:r>
              <a:rPr dirty="0" err="1"/>
              <a:t>Instanz</a:t>
            </a:r>
            <a:r>
              <a:rPr dirty="0"/>
              <a:t> auf Basis des Blueprints und </a:t>
            </a:r>
            <a:r>
              <a:rPr dirty="0" err="1"/>
              <a:t>schrittweise</a:t>
            </a:r>
            <a:r>
              <a:rPr dirty="0"/>
              <a:t> Migration.</a:t>
            </a:r>
          </a:p>
          <a:p>
            <a:r>
              <a:rPr dirty="0" err="1"/>
              <a:t>Mittelfristig</a:t>
            </a:r>
            <a:r>
              <a:rPr dirty="0"/>
              <a:t>: Off-Site-</a:t>
            </a:r>
            <a:r>
              <a:rPr dirty="0" err="1"/>
              <a:t>Replikation</a:t>
            </a:r>
            <a:r>
              <a:rPr dirty="0"/>
              <a:t> und </a:t>
            </a:r>
            <a:r>
              <a:rPr dirty="0" err="1"/>
              <a:t>Ablösung</a:t>
            </a:r>
            <a:r>
              <a:rPr dirty="0"/>
              <a:t> der Tape-</a:t>
            </a:r>
            <a:r>
              <a:rPr dirty="0" err="1"/>
              <a:t>Sicherung</a:t>
            </a:r>
            <a:r>
              <a:rPr dirty="0"/>
              <a:t>.</a:t>
            </a:r>
          </a:p>
          <a:p>
            <a:r>
              <a:rPr dirty="0" err="1"/>
              <a:t>Langfristig</a:t>
            </a:r>
            <a:r>
              <a:rPr dirty="0"/>
              <a:t>: </a:t>
            </a:r>
            <a:r>
              <a:rPr dirty="0" err="1"/>
              <a:t>vollautomatisiertes</a:t>
            </a:r>
            <a:r>
              <a:rPr dirty="0"/>
              <a:t> Monitoring und </a:t>
            </a:r>
            <a:r>
              <a:rPr dirty="0" err="1"/>
              <a:t>regelmäßige</a:t>
            </a:r>
            <a:r>
              <a:rPr dirty="0"/>
              <a:t> Restore-Tests </a:t>
            </a:r>
            <a:r>
              <a:rPr dirty="0" err="1"/>
              <a:t>als</a:t>
            </a:r>
            <a:r>
              <a:rPr dirty="0"/>
              <a:t>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Kurze </a:t>
            </a:r>
            <a:r>
              <a:rPr dirty="0" err="1"/>
              <a:t>Zusammenfassung</a:t>
            </a:r>
            <a:r>
              <a:rPr dirty="0"/>
              <a:t> der </a:t>
            </a:r>
            <a:r>
              <a:rPr dirty="0" err="1"/>
              <a:t>Kernpunkte</a:t>
            </a:r>
            <a:r>
              <a:rPr dirty="0"/>
              <a:t>: Ziel </a:t>
            </a:r>
            <a:r>
              <a:rPr dirty="0" err="1"/>
              <a:t>erreicht</a:t>
            </a:r>
            <a:r>
              <a:rPr dirty="0"/>
              <a:t>, alle Tests </a:t>
            </a:r>
            <a:r>
              <a:rPr dirty="0" err="1"/>
              <a:t>bestanden</a:t>
            </a:r>
            <a:r>
              <a:rPr dirty="0"/>
              <a:t>, 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/>
              <a:t>Zeitrahmen</a:t>
            </a:r>
            <a:r>
              <a:rPr dirty="0"/>
              <a:t> </a:t>
            </a:r>
            <a:r>
              <a:rPr dirty="0" err="1"/>
              <a:t>geblieben</a:t>
            </a:r>
            <a:r>
              <a:rPr dirty="0"/>
              <a:t>, </a:t>
            </a:r>
            <a:r>
              <a:rPr dirty="0" err="1"/>
              <a:t>Dokumentation</a:t>
            </a:r>
            <a:r>
              <a:rPr dirty="0"/>
              <a:t>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klarer</a:t>
            </a:r>
            <a:r>
              <a:rPr dirty="0"/>
              <a:t> </a:t>
            </a:r>
            <a:r>
              <a:rPr dirty="0" err="1"/>
              <a:t>Mehrwert</a:t>
            </a:r>
            <a:r>
              <a:rPr dirty="0"/>
              <a:t> für die ODCF.</a:t>
            </a:r>
          </a:p>
          <a:p>
            <a:r>
              <a:rPr dirty="0" err="1"/>
              <a:t>Überleitung</a:t>
            </a:r>
            <a:r>
              <a:rPr dirty="0"/>
              <a:t>: </a:t>
            </a:r>
            <a:r>
              <a:rPr dirty="0" err="1"/>
              <a:t>damit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die Basis für den </a:t>
            </a:r>
            <a:r>
              <a:rPr dirty="0" err="1"/>
              <a:t>späteren</a:t>
            </a:r>
            <a:r>
              <a:rPr dirty="0"/>
              <a:t> </a:t>
            </a:r>
            <a:r>
              <a:rPr dirty="0" err="1"/>
              <a:t>Produktivgang</a:t>
            </a:r>
            <a:r>
              <a:rPr dirty="0"/>
              <a:t> </a:t>
            </a:r>
            <a:r>
              <a:rPr dirty="0" err="1"/>
              <a:t>gelegt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Dank für die </a:t>
            </a:r>
            <a:r>
              <a:rPr dirty="0" err="1"/>
              <a:t>Aufmerksamkeit</a:t>
            </a:r>
            <a:r>
              <a:rPr dirty="0"/>
              <a:t> und </a:t>
            </a:r>
            <a:r>
              <a:rPr dirty="0" err="1"/>
              <a:t>Überleitung</a:t>
            </a:r>
            <a:r>
              <a:rPr dirty="0"/>
              <a:t> </a:t>
            </a:r>
            <a:r>
              <a:rPr dirty="0" err="1"/>
              <a:t>zum</a:t>
            </a:r>
            <a:r>
              <a:rPr dirty="0"/>
              <a:t> </a:t>
            </a:r>
            <a:r>
              <a:rPr dirty="0" err="1"/>
              <a:t>Fachgespräch</a:t>
            </a:r>
            <a:r>
              <a:rPr dirty="0"/>
              <a:t>.</a:t>
            </a:r>
          </a:p>
          <a:p>
            <a:r>
              <a:rPr dirty="0" err="1"/>
              <a:t>Anbieten</a:t>
            </a:r>
            <a:r>
              <a:rPr dirty="0"/>
              <a:t>, auf </a:t>
            </a:r>
            <a:r>
              <a:rPr dirty="0" err="1"/>
              <a:t>Fragen</a:t>
            </a:r>
            <a:r>
              <a:rPr dirty="0"/>
              <a:t> </a:t>
            </a:r>
            <a:r>
              <a:rPr dirty="0" err="1"/>
              <a:t>einzugehen</a:t>
            </a:r>
            <a:r>
              <a:rPr dirty="0"/>
              <a:t>, </a:t>
            </a:r>
            <a:r>
              <a:rPr dirty="0" err="1"/>
              <a:t>zum</a:t>
            </a:r>
            <a:r>
              <a:rPr dirty="0"/>
              <a:t> </a:t>
            </a:r>
            <a:r>
              <a:rPr dirty="0" err="1"/>
              <a:t>Beispiel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Backup-</a:t>
            </a:r>
            <a:r>
              <a:rPr dirty="0" err="1"/>
              <a:t>Konzept</a:t>
            </a:r>
            <a:r>
              <a:rPr dirty="0"/>
              <a:t>, RAID </a:t>
            </a:r>
            <a:r>
              <a:rPr dirty="0" err="1"/>
              <a:t>gegen</a:t>
            </a:r>
            <a:r>
              <a:rPr dirty="0"/>
              <a:t> ZFS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LDAP-</a:t>
            </a:r>
            <a:r>
              <a:rPr dirty="0" err="1"/>
              <a:t>Anbindung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3200" cy="192024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93200" cy="381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288000"/>
            <a:ext cx="2880000" cy="528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1007999"/>
            <a:ext cx="111132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9ED9"/>
                </a:solidFill>
                <a:latin typeface="Arial"/>
              </a:rPr>
              <a:t>Abschlusspräsentation: Betriebliche Projektarbeit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368000"/>
            <a:ext cx="111132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Einrichtung eines dedizierten
Proxmox Backup Servers
bei der ODCF am DKFZ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220000"/>
            <a:ext cx="111132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3"/>
                </a:solidFill>
                <a:latin typeface="Arial"/>
              </a:rPr>
              <a:t>Johannes Nguyen  |  Fachinformatiker Systemintegration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544000"/>
            <a:ext cx="1111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DKFZ: Deutsches Krebsforschungszentrum  |  IHK Rhein-Neckar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Gliederung</a:t>
            </a:r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026000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00" y="1026000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1026000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Technologischer Hintergrund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18545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000" y="1518545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1518545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Unternehmen und Projektumfeld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011090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0000" y="2011090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000" y="2011090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Ausgangssituation und Projektziel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503636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0000" y="2503636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000" y="2503636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Projektplanung und Zeitrahmen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996181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0000" y="2996181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2996181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Analysephase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3488726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000" y="3488726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000" y="3488726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Begründete Entscheidungen: Warum diese Lösung?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3981272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0000" y="3981272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000" y="3981272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Entwurfsphase: Architektur und Backup-Konzept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4473817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0000" y="4473817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000" y="4473817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Implementierungsphase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4966362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0000" y="4966362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000" y="4966362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Abnahme und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5458908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0000" y="5458908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000" y="5458908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Fazit und Soll-Ist-Vergleich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5951453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0000" y="5951453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000" y="5951453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Ausblick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Technologischer Hintergrund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01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88000"/>
            <a:ext cx="27333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Proxmox VE (PVE)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0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Open-Source-Virtualisierungsplattform auf Basis von Debian Linux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Verwaltet VMs (KVM) und Container (LXC) im Cluster-Betrieb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C1C2E"/>
                </a:solidFill>
                <a:latin typeface="Arial"/>
              </a:rPr>
              <a:t>▸  Bei der ODCF: 6 Hypervisor-Knoten, ~60 VMs + LXC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300" y="1188000"/>
            <a:ext cx="27333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813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Proxmox Backup Server (PBS)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33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173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Hauseigene Backup-Lösung von Proxmox, nativ in PVE integriert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73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Inkrementelle Sicherungen mit clientseitiger Deduplizierung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73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Integritätsprüfung via Prüfsummen-Verify-Jobs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6600" y="1188000"/>
            <a:ext cx="2733300" cy="2592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946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66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306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Verteiltes Open-Source-Storage-System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06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Primär-Storage-Backend des PVE-Clusters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06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Brutto-Kapazität: ~44 TB, davon ~6 TB belegt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9900" y="1188000"/>
            <a:ext cx="27333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079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Hardware-RAID vs. ZFS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99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439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Hardware-RAID: RAID-Controller übernimmt Parität (RAID 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39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ZFS: Software-Stack mit direktem Disk-Zugriff (HBA nötig)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39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x3755 M3 besitzt nur Hardware-RAID-Controller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Unternehmen und Projektumfeld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02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DKFZ: Deutsches Krebsforschungszentrum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375200"/>
            <a:ext cx="5646600" cy="2044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5999" y="14292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Größte biomedizinische Forschungseinrichtung Deutschlands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999" y="19134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Standort: Heidelberg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999" y="23976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Forschung zu Krebsentstehung und -bekämpfung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999" y="28818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Komplexe IT-Infrastruktur für genomische Daten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6600" y="1116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94600" y="1116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ODCF: Omics IT and Data Management Core Facility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600" y="1375200"/>
            <a:ext cx="5646600" cy="2044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12599" y="1556308"/>
            <a:ext cx="5430600" cy="229984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 dirty="0">
                <a:solidFill>
                  <a:srgbClr val="1C1C2E"/>
                </a:solidFill>
                <a:latin typeface="Arial"/>
              </a:rPr>
              <a:t>▸  </a:t>
            </a:r>
            <a:r>
              <a:rPr sz="1400" b="0" dirty="0" err="1">
                <a:solidFill>
                  <a:srgbClr val="1C1C2E"/>
                </a:solidFill>
                <a:latin typeface="Arial"/>
              </a:rPr>
              <a:t>Interner</a:t>
            </a:r>
            <a:r>
              <a:rPr sz="1400" b="0" dirty="0">
                <a:solidFill>
                  <a:srgbClr val="1C1C2E"/>
                </a:solidFill>
                <a:latin typeface="Arial"/>
              </a:rPr>
              <a:t> </a:t>
            </a:r>
            <a:r>
              <a:rPr lang="en-US" sz="1400" b="0" dirty="0">
                <a:solidFill>
                  <a:srgbClr val="1C1C2E"/>
                </a:solidFill>
                <a:latin typeface="Arial"/>
              </a:rPr>
              <a:t>Cluster </a:t>
            </a:r>
            <a:r>
              <a:rPr sz="1400" b="0" dirty="0">
                <a:solidFill>
                  <a:srgbClr val="1C1C2E"/>
                </a:solidFill>
                <a:latin typeface="Arial"/>
              </a:rPr>
              <a:t>IT-</a:t>
            </a:r>
            <a:r>
              <a:rPr sz="1400" b="0" dirty="0" err="1">
                <a:solidFill>
                  <a:srgbClr val="1C1C2E"/>
                </a:solidFill>
                <a:latin typeface="Arial"/>
              </a:rPr>
              <a:t>Dienstleister</a:t>
            </a:r>
            <a:r>
              <a:rPr sz="1400" b="0" dirty="0">
                <a:solidFill>
                  <a:srgbClr val="1C1C2E"/>
                </a:solidFill>
                <a:latin typeface="Arial"/>
              </a:rPr>
              <a:t> des DKFZ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2599" y="19134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Hochleistungs-Compute-Cluster (IBM LSF)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2599" y="23976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 dirty="0">
                <a:solidFill>
                  <a:srgbClr val="1C1C2E"/>
                </a:solidFill>
                <a:latin typeface="Arial"/>
              </a:rPr>
              <a:t>▸  PVE-Cluster: 6 Hypervisor-Knoten, ~60 VMs + LXC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2599" y="2881800"/>
            <a:ext cx="5430600" cy="484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Auftraggeber: Frank Thommen (ODCF)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3671999"/>
            <a:ext cx="11473200" cy="288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8000" y="3671999"/>
            <a:ext cx="11329200" cy="288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Projektrahmen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3959999"/>
            <a:ext cx="11473200" cy="1727999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00" y="3959999"/>
            <a:ext cx="2520000" cy="575999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800" b="1">
                <a:solidFill>
                  <a:srgbClr val="003F72"/>
                </a:solidFill>
                <a:latin typeface="Arial"/>
              </a:rPr>
              <a:t>Projektart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0000" y="3959999"/>
            <a:ext cx="8449200" cy="575999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800" b="0">
                <a:solidFill>
                  <a:srgbClr val="1C1C2E"/>
                </a:solidFill>
                <a:latin typeface="Arial"/>
              </a:rPr>
              <a:t>Internes Projekt, Auftraggeber = Auftragnehmer (DKFZ)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535998"/>
            <a:ext cx="2520000" cy="575999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800" b="1">
                <a:solidFill>
                  <a:srgbClr val="003F72"/>
                </a:solidFill>
                <a:latin typeface="Arial"/>
              </a:rPr>
              <a:t>Ausbildungsberuf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0000" y="4535998"/>
            <a:ext cx="8449200" cy="575999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800" b="0">
                <a:solidFill>
                  <a:srgbClr val="1C1C2E"/>
                </a:solidFill>
                <a:latin typeface="Arial"/>
              </a:rPr>
              <a:t>Fachinformatiker Systemintegration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5111998"/>
            <a:ext cx="2520000" cy="575999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800" b="1">
                <a:solidFill>
                  <a:srgbClr val="003F72"/>
                </a:solidFill>
                <a:latin typeface="Arial"/>
              </a:rPr>
              <a:t>Zeitrahmen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0000" y="5111998"/>
            <a:ext cx="8449200" cy="575999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800" b="0">
                <a:solidFill>
                  <a:srgbClr val="1C1C2E"/>
                </a:solidFill>
                <a:latin typeface="Arial"/>
              </a:rPr>
              <a:t>40 Stunden, Bearbeitungszeitraum bis 30.04.2026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Ausgangssituation und Projektziel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70000"/>
            <a:ext cx="180000" cy="180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1999" y="1116000"/>
            <a:ext cx="4944601" cy="288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600" b="1">
                <a:solidFill>
                  <a:srgbClr val="CC3333"/>
                </a:solidFill>
                <a:latin typeface="Arial"/>
              </a:rPr>
              <a:t>IST-Zustand: Probleme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786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00" y="1548000"/>
            <a:ext cx="4872600" cy="60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Backup nur auf lokalem Hypervisor-Storage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2392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000" y="2154000"/>
            <a:ext cx="4872600" cy="60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Dell-VxRail-Knoten: kein lokaler 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2998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000" y="2760000"/>
            <a:ext cx="4872600" cy="60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Primär- und Sicherungsdaten gemeinsam abgelegt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3604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000" y="3366000"/>
            <a:ext cx="4872600" cy="60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Keine zentrale Verwaltung und Überwachung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00" y="3972000"/>
            <a:ext cx="4872600" cy="60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Keine automatische Integritätsprüfung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4816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000" y="4578000"/>
            <a:ext cx="4872600" cy="60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Restore aus TSM/Tape: aufwändig und langsam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36600" y="1170000"/>
            <a:ext cx="180000" cy="180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88599" y="1116000"/>
            <a:ext cx="4944601" cy="288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600" b="1">
                <a:solidFill>
                  <a:srgbClr val="009E73"/>
                </a:solidFill>
                <a:latin typeface="Arial"/>
              </a:rPr>
              <a:t>Projektziel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2600" y="1742914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06600" y="1548000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Dedizierter PBS auf eigener Hardware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2600" y="2262342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06600" y="2067428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Anbindung an gesamten PVE-Cluster (6 Knoten)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2600" y="2781771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6600" y="2586857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Inkrementelle Backups mit Deduplizierung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2600" y="3301200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906600" y="3106285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Retention Policies (kritisch / Test)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2600" y="3820628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06600" y="3625714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Zentrales Monitoring via Prometheus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2600" y="4340057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06600" y="4145142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E-Mail-Benachrichtigung bei Fehlern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2600" y="4859485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06600" y="4664571"/>
            <a:ext cx="4872600" cy="519428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Betriebsdokumentation für das ODCF-Team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00600" y="2988000"/>
            <a:ext cx="792000" cy="540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ctr"/>
            <a:r>
              <a:rPr sz="4400" b="1">
                <a:solidFill>
                  <a:srgbClr val="009ED9"/>
                </a:solidFill>
                <a:latin typeface="Arial"/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0000" y="5364000"/>
            <a:ext cx="11473200" cy="1080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0000" y="5436000"/>
            <a:ext cx="11473200" cy="288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</a:rPr>
              <a:t>Scope: Blueprint-Testinstanz als Referenz für den späteren Produktivgang, kein Ersatz der bisherigen TSM/Tape-Sicherung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Projektplanung und Zeitrahmen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04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6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134000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90"/>
                </a:solidFill>
                <a:latin typeface="Arial"/>
              </a:rPr>
              <a:t>Gesamtbudget: 40 Stunden  |  max. 8 h Dokumentation  |  Iteratives Vorgehen mit Abstimmungsschleifen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617428" cy="50399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6000" y="1548000"/>
            <a:ext cx="1567028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771200"/>
            <a:ext cx="1567028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6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9028" y="1512000"/>
            <a:ext cx="1617428" cy="503999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35028" y="1548000"/>
            <a:ext cx="1567028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Entwurf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5028" y="1771200"/>
            <a:ext cx="1567028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Arial"/>
              </a:rPr>
              <a:t>6 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8057" y="1512000"/>
            <a:ext cx="1071085" cy="503999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74057" y="1548000"/>
            <a:ext cx="1020685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Beschaffung/Vorb.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40000" y="1722599"/>
            <a:ext cx="1020685" cy="198000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0742" y="1512000"/>
            <a:ext cx="1071085" cy="503999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66742" y="1548000"/>
            <a:ext cx="1020685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PBS-Installation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2163" y="1715445"/>
            <a:ext cx="1020685" cy="198000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3428" y="1512000"/>
            <a:ext cx="2163771" cy="503999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9428" y="1548000"/>
            <a:ext cx="2113371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Konfiguration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9428" y="1771200"/>
            <a:ext cx="2113371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8 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8800" y="1512000"/>
            <a:ext cx="1071085" cy="503999"/>
          </a:xfrm>
          <a:prstGeom prst="rect">
            <a:avLst/>
          </a:prstGeom>
          <a:solidFill>
            <a:srgbClr val="5B9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4800" y="1548000"/>
            <a:ext cx="1020685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 dirty="0" err="1">
                <a:solidFill>
                  <a:srgbClr val="FFFFFF"/>
                </a:solidFill>
                <a:latin typeface="Arial"/>
              </a:rPr>
              <a:t>Abnahme</a:t>
            </a:r>
            <a:endParaRPr sz="11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4800" y="1771200"/>
            <a:ext cx="1020685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9485" y="1548000"/>
            <a:ext cx="510342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Arial"/>
              </a:rPr>
              <a:t>2h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15885" y="1513213"/>
            <a:ext cx="2163771" cy="503999"/>
          </a:xfrm>
          <a:prstGeom prst="rect">
            <a:avLst/>
          </a:prstGeom>
          <a:solidFill>
            <a:srgbClr val="7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51885" y="1549213"/>
            <a:ext cx="2113371" cy="216000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/>
            <a:r>
              <a:rPr sz="1100" b="1" i="0" dirty="0" err="1">
                <a:solidFill>
                  <a:srgbClr val="FFFFFF"/>
                </a:solidFill>
                <a:latin typeface="Arial"/>
              </a:rPr>
              <a:t>Dokumentation</a:t>
            </a:r>
            <a:endParaRPr sz="11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51885" y="1772413"/>
            <a:ext cx="2113371" cy="198000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Arial"/>
              </a:rPr>
              <a:t>10</a:t>
            </a:r>
            <a:r>
              <a:rPr sz="1100" b="0" i="0" dirty="0">
                <a:solidFill>
                  <a:srgbClr val="FFFFFF"/>
                </a:solidFill>
                <a:latin typeface="Arial"/>
              </a:rPr>
              <a:t> 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2267998"/>
            <a:ext cx="3780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8000" y="2296798"/>
            <a:ext cx="36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2527198"/>
            <a:ext cx="37800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4000" y="25991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System x3755 M3 (Bestandshardware)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000" y="30023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32 Kerne AMD Opteron  |  32 GB 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000" y="34055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6 × 4 TB HDD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000" y="38087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RAID 1 (System) + RAID 5 (Datastore ~20 TB)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0" y="2267998"/>
            <a:ext cx="37800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28000" y="2296798"/>
            <a:ext cx="36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Software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0" y="2527198"/>
            <a:ext cx="37800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64000" y="25991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4 (AGPLv3: keine Lizenzkosten)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64000" y="30023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Debian Linux als Basis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4000" y="34055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ext4-Dateisystem auf HW-RAID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4000" y="38087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Prometheus + pbs-exporter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0000" y="2267998"/>
            <a:ext cx="3517200" cy="259200"/>
          </a:xfrm>
          <a:prstGeom prst="rect">
            <a:avLst/>
          </a:prstGeom>
          <a:solidFill>
            <a:srgbClr val="7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88000" y="2296798"/>
            <a:ext cx="3373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Personal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0000" y="2527198"/>
            <a:ext cx="35172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24000" y="25991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Prüfling: Johannes Nguyen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24000" y="31367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Betreuer: Frank Thommen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24000" y="36743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Übergabe: Stefan Becker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Analysephase: Anforderungen und Wirtschaftlichkeit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Funktionale Anforderungen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375200"/>
            <a:ext cx="5646600" cy="1900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5999" y="1429200"/>
            <a:ext cx="5430600" cy="298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Dedizierter PBS auf eigener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999" y="1728000"/>
            <a:ext cx="5430600" cy="298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Sicherung aller ~60 VMs und 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999" y="2026800"/>
            <a:ext cx="5430600" cy="298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Backup-Jobs mit Zeitplan und 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999" y="2325600"/>
            <a:ext cx="5430600" cy="298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Benachrichtigung bei Fehlschlägen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999" y="2624400"/>
            <a:ext cx="5430600" cy="298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Anbindung an Prometheus-Monitoring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99" y="2923200"/>
            <a:ext cx="5430600" cy="298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File- und vollständiger VM-Restore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600" y="1116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94600" y="1116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Nicht-funktionale Anforderungen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6600" y="1375200"/>
            <a:ext cx="5646600" cy="1900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12599" y="1429200"/>
            <a:ext cx="5430600" cy="35856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Trennung Primär- und Sicherungs-Storage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2599" y="1787760"/>
            <a:ext cx="5430600" cy="35856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LDAP-Authentifizierung (DKFZ AD)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4795" y="2135158"/>
            <a:ext cx="5430600" cy="35856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 dirty="0">
                <a:solidFill>
                  <a:srgbClr val="1C1C2E"/>
                </a:solidFill>
                <a:latin typeface="Arial"/>
              </a:rPr>
              <a:t>▸  </a:t>
            </a:r>
            <a:r>
              <a:rPr sz="1400" b="0" dirty="0" err="1">
                <a:solidFill>
                  <a:srgbClr val="1C1C2E"/>
                </a:solidFill>
                <a:latin typeface="Arial"/>
              </a:rPr>
              <a:t>Notfallzugang</a:t>
            </a:r>
            <a:r>
              <a:rPr sz="1400" b="0" dirty="0">
                <a:solidFill>
                  <a:srgbClr val="1C1C2E"/>
                </a:solidFill>
                <a:latin typeface="Arial"/>
              </a:rPr>
              <a:t> via </a:t>
            </a:r>
            <a:r>
              <a:rPr sz="1400" b="0" dirty="0" err="1">
                <a:solidFill>
                  <a:srgbClr val="1C1C2E"/>
                </a:solidFill>
                <a:latin typeface="Arial"/>
              </a:rPr>
              <a:t>lokalem</a:t>
            </a:r>
            <a:r>
              <a:rPr sz="1400" b="0" dirty="0">
                <a:solidFill>
                  <a:srgbClr val="1C1C2E"/>
                </a:solidFill>
                <a:latin typeface="Arial"/>
              </a:rPr>
              <a:t> root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3401999"/>
            <a:ext cx="11473200" cy="234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1500" b="1">
                <a:solidFill>
                  <a:srgbClr val="003F72"/>
                </a:solidFill>
                <a:latin typeface="Arial"/>
              </a:rPr>
              <a:t>Wirtschaftlichkeitsbetrachtung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3671999"/>
            <a:ext cx="6840000" cy="29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000" y="36719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2000" y="36719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Basis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32000" y="36719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Kosten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3967199"/>
            <a:ext cx="6840000" cy="2952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2000" y="39671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Personalkosten Prüfling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2000" y="39671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40 h x ~25 EUR/h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2000" y="39671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 dirty="0">
                <a:solidFill>
                  <a:srgbClr val="1C1C2E"/>
                </a:solidFill>
                <a:latin typeface="Arial"/>
              </a:rPr>
              <a:t>~1.000 EUR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4262399"/>
            <a:ext cx="6840000" cy="29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2000" y="42623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Betreuung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2000" y="42623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 h x ~80 EUR/h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32000" y="42623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~400 EUR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4557599"/>
            <a:ext cx="6840000" cy="2952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45575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Hardware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92000" y="45575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IBM x3755 (Bestand)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32000" y="45575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0 EUR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4852799"/>
            <a:ext cx="6840000" cy="29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48527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Software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2000" y="48527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PBS (AGPLv3)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32000" y="48527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0 EUR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5147999"/>
            <a:ext cx="6840000" cy="2952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51479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Betriebskosten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92000" y="51479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Strom / Stellplatz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32000" y="51479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~200 EUR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5443199"/>
            <a:ext cx="6840000" cy="295200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32000" y="5443199"/>
            <a:ext cx="295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Gesamt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2000" y="5443199"/>
            <a:ext cx="22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832000" y="5443199"/>
            <a:ext cx="1332000" cy="295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~1.600 EUR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80000" y="3671999"/>
            <a:ext cx="4453200" cy="259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488000" y="3671999"/>
            <a:ext cx="43092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Nutzen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80000" y="3931199"/>
            <a:ext cx="4453200" cy="18072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505999" y="3985199"/>
            <a:ext cx="4237200" cy="424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Schnellere Restores (Minuten statt Stunden)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05999" y="4409999"/>
            <a:ext cx="4237200" cy="424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Zentrale Verwaltung aller Backups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5999" y="4834799"/>
            <a:ext cx="4237200" cy="424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Automatische Integritätsprüfung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05999" y="5259599"/>
            <a:ext cx="4237200" cy="4248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Keine Lizenzkosten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Begründete Entscheidungen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tIns="7200" bIns="7200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80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PBS statt Veeam / Bacula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339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4000" y="1422000"/>
            <a:ext cx="1872000" cy="21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0000" y="1422000"/>
            <a:ext cx="1800000" cy="21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Beauftragt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2003400"/>
            <a:ext cx="115200" cy="11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0000" y="1746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Vom Auftraggeber vorgegeben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000" y="2633400"/>
            <a:ext cx="115200" cy="11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0000" y="2376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Keine Lizenzkosten (AGPLv3)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000" y="3263400"/>
            <a:ext cx="115200" cy="11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0000" y="3006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Nativ in PVE integriert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6600" y="1080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4600" y="1080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IBM x3755 M3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6600" y="1339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30600" y="1422000"/>
            <a:ext cx="1872000" cy="2160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6600" y="1422000"/>
            <a:ext cx="1800000" cy="21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Bestandshardware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48600" y="20034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46600" y="1746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Altbestand, keine Beschaffung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8600" y="26334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46600" y="2376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32 Kerne / 32 GB RAM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48600" y="32634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46600" y="3006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~20 TB Datastore (RAID 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3798000"/>
            <a:ext cx="5646600" cy="259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8000" y="3798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Hardware-RAID 5 statt ZFS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4057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4000" y="4140000"/>
            <a:ext cx="1872000" cy="2160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0000" y="4140000"/>
            <a:ext cx="1800000" cy="21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Hardware-Vorgabe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2000" y="4721400"/>
            <a:ext cx="115200" cy="115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0000" y="4464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Server kann nur Hardware-RAID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2000" y="5351400"/>
            <a:ext cx="115200" cy="115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20000" y="5094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ZFS braucht direkten Disk-Zugriff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2000" y="5981400"/>
            <a:ext cx="115200" cy="115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0000" y="5724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ZFS bevorzugt bei neuer Hardware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86600" y="3798000"/>
            <a:ext cx="5646600" cy="259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94600" y="3798000"/>
            <a:ext cx="5502600" cy="2592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ext4 als Dateisystem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6600" y="4057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30600" y="4140000"/>
            <a:ext cx="1872000" cy="216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66600" y="4140000"/>
            <a:ext cx="1800000" cy="216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Folgt aus RAID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48600" y="4721400"/>
            <a:ext cx="115200" cy="115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46600" y="4464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ZFS technisch nicht möglich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48600" y="5351400"/>
            <a:ext cx="115200" cy="115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46600" y="5094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Vom PBS offiziell unterstützt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48600" y="5981400"/>
            <a:ext cx="115200" cy="115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46600" y="5724000"/>
            <a:ext cx="5178600" cy="630000"/>
          </a:xfrm>
          <a:prstGeom prst="rect">
            <a:avLst/>
          </a:prstGeom>
          <a:noFill/>
        </p:spPr>
        <p:txBody>
          <a:bodyPr wrap="square" tIns="7200" bIns="7200" anchor="ctr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Integrität via PBS-Verify-Job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Entwurfsphase: Systemarchitektur und Backup-Konzept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9 / 15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" y="1152000"/>
            <a:ext cx="6120000" cy="430967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60000" y="1152000"/>
            <a:ext cx="51732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8000" y="118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 &amp; Netzwerk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0" y="1411200"/>
            <a:ext cx="5173200" cy="1108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04000" y="14832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IBM x3755 M3 im Rack14 (ODCF-RZ)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4000" y="17334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2×10 GbE SFP-Karte, LACP bond0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4000" y="19836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IP: 10.131.196.78 (server-VLAN)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4000" y="22338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WebUI: https://odcf-fs04:8007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0000" y="2592000"/>
            <a:ext cx="51732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8000" y="262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Authentifizierung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0000" y="2851200"/>
            <a:ext cx="5173200" cy="928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04000" y="29232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LDAP (LDAPS:636) → ODCF-SysAdmins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4000" y="31968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Lokaler root für Notfall/Automation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4000" y="34704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Passwort im Bitwarden-Tresor (ODCF)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0000" y="3852000"/>
            <a:ext cx="51732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8000" y="388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Monitoring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60000" y="4111200"/>
            <a:ext cx="5173200" cy="964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04000" y="41832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pbs-exporter → Prometheus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4000" y="44688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E-Mail via DKFZ-SMTP-Relay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04000" y="47544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Wöchentlicher Verify-Job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000" y="5220000"/>
            <a:ext cx="50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F72"/>
                </a:solidFill>
                <a:latin typeface="Arial"/>
              </a:rPr>
              <a:t>Backup-Konzept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5471999"/>
            <a:ext cx="11473200" cy="244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0000" y="55079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VM-Klasse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2000" y="55079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Frequenz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94000" y="55079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6000" y="55079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Restore-Quelle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5716799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0000" y="57527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Kritisch (SOP-pflichtig)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42000" y="57527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2 × täglich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4000" y="57527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keep-last =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6000" y="57527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 Datastore + Tape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0000" y="5961599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0000" y="59975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Test-VMs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Implementierungsphase: Umsetzung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1  Beschaffung und Vorbereitung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000" y="14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x3755 M3 → Rack14, RAID-Controller konfiguriert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18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SFP-Karte eingebaut, LACP bond0 (802.3ad, layer3+4)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21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Verkabelung Rack14/16 → Cisco-Switch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000" y="24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Zeitaufwand: ~6 h (RAID-Komplikationen +2 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6600" y="1152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94600" y="11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2  PBS-Installation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600" y="14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0600" y="14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4 ISO-Installation, Hostname odcf-fs04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0600" y="18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pbs-no-subscription-Repo, vollständiges apt-Upgrade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0600" y="21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C1C2E"/>
                </a:solidFill>
                <a:latin typeface="Arial"/>
              </a:rPr>
              <a:t>▸  DNS-</a:t>
            </a:r>
            <a:r>
              <a:rPr sz="1300" b="0" i="0" dirty="0" err="1">
                <a:solidFill>
                  <a:srgbClr val="1C1C2E"/>
                </a:solidFill>
                <a:latin typeface="Arial"/>
              </a:rPr>
              <a:t>Eintrag</a:t>
            </a:r>
            <a:r>
              <a:rPr sz="1300" b="0" i="0" dirty="0">
                <a:solidFill>
                  <a:srgbClr val="1C1C2E"/>
                </a:solidFill>
                <a:latin typeface="Arial"/>
              </a:rPr>
              <a:t>, NTP-Sync auf DKFZ-</a:t>
            </a:r>
            <a:r>
              <a:rPr sz="1300" b="0" i="0" dirty="0" err="1">
                <a:solidFill>
                  <a:srgbClr val="1C1C2E"/>
                </a:solidFill>
                <a:latin typeface="Arial"/>
              </a:rPr>
              <a:t>Zeitserver</a:t>
            </a:r>
            <a:endParaRPr sz="1300" b="0" i="0" dirty="0">
              <a:solidFill>
                <a:srgbClr val="1C1C2E"/>
              </a:solidFill>
              <a:latin typeface="Arial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330600" y="24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Zeitaufwand: ~5 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952000"/>
            <a:ext cx="56466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8000" y="29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3  Datastore und LDAP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32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4000" y="32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ext4 auf RAID 5 → /mnt/datastore/backup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000" y="36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PBS-Datastore 'backup' angelegt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000" y="39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DKFZ-LDAP (LDAPS:636) → ODCF-SysAdmins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000" y="42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Wöchentlicher Verify-Job eingerichtet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6600" y="2952000"/>
            <a:ext cx="5646600" cy="2592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94600" y="29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4  PVE-Integration und Backup-Jobs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6600" y="32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30600" y="32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als Storage im PVE-Cluster eingebunden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600" y="36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Authentifizierung: root-PW + TLS-Fingerprint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0600" y="39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Backup-Jobs: 2×täglich, keep-last=3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0600" y="42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Manueller Test-Backup vor Produktivgang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Abnahme und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11473200" cy="28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000" y="1116000"/>
            <a:ext cx="241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2000" y="1116000"/>
            <a:ext cx="781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Ergebnis / Beschreibung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34000" y="1116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1404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000" y="1404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Backup-Job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2000" y="1404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 aus PVE → Datastore odcf-fs04 erfolgreich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000" y="140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016000" y="140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1836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000" y="1836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LDAP-Anmeldung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2000" y="1836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Login über AD-Gruppe ODCF-SysAdmins funktioniert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4000" y="183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016000" y="183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268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0000" y="2268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E-Mail-Benachrichtigung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2000" y="2268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Versand bei erfolgreichem und fehlgeschlagenem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4000" y="226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016000" y="226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0000" y="2700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0000" y="2700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Prometheus-Metriken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42000" y="2700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pbs_up=1, Datastore-Belegung im Dashboard sichtbar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4000" y="270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016000" y="270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3132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0000" y="3132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Storage-Trennung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42000" y="3132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Backups ausschließlich auf dediziertem Datastore (nicht Ceph)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4000" y="313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016000" y="313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3564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0000" y="3564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File-Restore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42000" y="3564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Einzelne Dateien aus Snapshot via PVE-WebUI wiederhergestellt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4000" y="356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16000" y="356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996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0000" y="3996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VM-Restore (komplett)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2000" y="3996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Test-VM mit neuer VMID aus Snapshot restored und gestartet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34000" y="399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016000" y="399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0000" y="4428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0000" y="4428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Container-Restore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2000" y="4428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LXC erfolgreich wiederhergestellt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34000" y="442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1016000" y="442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0000" y="4860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0000" y="4860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Integritätsprüfung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42000" y="4860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Manueller Verify-Job: alle Chunks gültig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34000" y="486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1016000" y="486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5292000"/>
            <a:ext cx="12193200" cy="43200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0000" y="5400000"/>
            <a:ext cx="11473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Abnahme durch Frank Thommen (ODCF) erteilt  |  Restorezeiten deutlich kürzer als TSM/Tape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Fazit: Soll-Ist-Vergleich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10800000" cy="2808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0800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0" y="10800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Geplant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0000" y="10800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Tatsächlich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0000" y="10800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Differenz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1360800"/>
            <a:ext cx="10800000" cy="2808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13608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Analyse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0000" y="13608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0000" y="13608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000" y="13608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-2,5 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641600"/>
            <a:ext cx="10800000" cy="28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000" y="16416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Planung &amp; Konzeption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0000" y="16416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 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0000" y="16416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3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000" y="16416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-2 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1922400"/>
            <a:ext cx="10800000" cy="2808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19224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Beschaffung &amp; Vorbereitung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000" y="19224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3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0000" y="19224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 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000" y="19224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CC3333"/>
                </a:solidFill>
                <a:latin typeface="Arial"/>
              </a:rPr>
              <a:t>+2 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203200"/>
            <a:ext cx="10800000" cy="28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000" y="22032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Installation PBS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0000" y="22032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0000" y="22032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 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000" y="22032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CC3333"/>
                </a:solidFill>
                <a:latin typeface="Arial"/>
              </a:rPr>
              <a:t>+1 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0000" y="2484000"/>
            <a:ext cx="10800000" cy="2808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24840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Konfiguration Datastore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20000" y="24840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20000" y="24840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2 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000" y="24840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-2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2764800"/>
            <a:ext cx="10800000" cy="28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0000" y="27648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PVE-Integration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0000" y="27648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0000" y="27648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1 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000" y="27648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-3 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0000" y="3045600"/>
            <a:ext cx="10800000" cy="2808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0" y="30456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Backup-Jobs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20000" y="30456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 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20000" y="30456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2 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0000" y="30456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-3 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3326400"/>
            <a:ext cx="10800000" cy="28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0000" y="33264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Test &amp; Validierung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0000" y="33264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3 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0000" y="33264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3 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0000" y="33264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0 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3607200"/>
            <a:ext cx="10800000" cy="2808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" y="36072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Monitoring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20000" y="36072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2 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0000" y="36072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2 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0000" y="36072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0 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3888000"/>
            <a:ext cx="10800000" cy="28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0000" y="38880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Dokumentation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20000" y="38880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6 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20000" y="38880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10 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0000" y="38880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CC3333"/>
                </a:solidFill>
                <a:latin typeface="Arial"/>
              </a:rPr>
              <a:t>+4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0000" y="4168800"/>
            <a:ext cx="10800000" cy="280800"/>
          </a:xfrm>
          <a:prstGeom prst="rect">
            <a:avLst/>
          </a:prstGeom>
          <a:solidFill>
            <a:srgbClr val="1C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0000" y="4168800"/>
            <a:ext cx="457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Gesamt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20000" y="4168800"/>
            <a:ext cx="169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40 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0000" y="41688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34,5 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0000" y="4168800"/>
            <a:ext cx="2052000" cy="280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-5,5 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0000" y="4629600"/>
            <a:ext cx="11473200" cy="251999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8000" y="4629600"/>
            <a:ext cx="4320000" cy="251999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Lessons Learned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0000" y="4881599"/>
            <a:ext cx="11473200" cy="1580402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8000" y="49716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8000" y="4917600"/>
            <a:ext cx="2508300" cy="14724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Frühe Netzwerk-Abstimmung ist kritisch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36300" y="49716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16300" y="4917600"/>
            <a:ext cx="2508300" cy="14724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Altbestands-Hardware schränkt Dateisystemwahl ein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04600" y="49716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84600" y="4917600"/>
            <a:ext cx="2508300" cy="14724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Betriebsdoku so wertvoll wie die Implementierung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72900" y="49716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52900" y="4917600"/>
            <a:ext cx="2508300" cy="14724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PBS + PVE sehr gut toolunterstützt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Ausblick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88000"/>
            <a:ext cx="3704400" cy="2592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Kurzfristig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0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Produktive PBS-Instanz auf Basis des Blueprints aufsetzen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Lokale Hypervisor-Backups schrittweise auf PBS migrieren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Übergabe an Stefan Becker (ODCF-Sysadmin-Team)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4400" y="1188000"/>
            <a:ext cx="37044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524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Mittelfristig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44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84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Off-Site-Replikation des Datastores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400" y="2381578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C1C2E"/>
                </a:solidFill>
                <a:latin typeface="Arial"/>
              </a:rPr>
              <a:t>▸  Trend-Alerts auf Datastore-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Belegung</a:t>
            </a:r>
            <a:r>
              <a:rPr sz="1400" b="0" i="0" dirty="0">
                <a:solidFill>
                  <a:srgbClr val="1C1C2E"/>
                </a:solidFill>
                <a:latin typeface="Arial"/>
              </a:rPr>
              <a:t> in Prometheus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800" y="1188000"/>
            <a:ext cx="3704400" cy="25920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368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Langfristig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8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728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C1C2E"/>
                </a:solidFill>
                <a:latin typeface="Arial"/>
              </a:rPr>
              <a:t>▸  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Vollautomatisiertes</a:t>
            </a:r>
            <a:r>
              <a:rPr sz="1400" b="0" i="0" dirty="0">
                <a:solidFill>
                  <a:srgbClr val="1C1C2E"/>
                </a:solidFill>
                <a:latin typeface="Arial"/>
              </a:rPr>
              <a:t> Backup-Monitoring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28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C1C2E"/>
                </a:solidFill>
                <a:latin typeface="Arial"/>
              </a:rPr>
              <a:t>▸  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Regelmäßige</a:t>
            </a:r>
            <a:r>
              <a:rPr sz="1400" b="0" i="0" dirty="0">
                <a:solidFill>
                  <a:srgbClr val="1C1C2E"/>
                </a:solidFill>
                <a:latin typeface="Arial"/>
              </a:rPr>
              <a:t> Restore-Tests 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als</a:t>
            </a:r>
            <a:r>
              <a:rPr sz="1400" b="0" i="0" dirty="0">
                <a:solidFill>
                  <a:srgbClr val="1C1C2E"/>
                </a:solidFill>
                <a:latin typeface="Arial"/>
              </a:rPr>
              <a:t> SOP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28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C1C2E"/>
                </a:solidFill>
                <a:latin typeface="Arial"/>
              </a:rPr>
              <a:t>▸  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Erweiterung</a:t>
            </a:r>
            <a:r>
              <a:rPr sz="1400" b="0" i="0" dirty="0">
                <a:solidFill>
                  <a:srgbClr val="1C1C2E"/>
                </a:solidFill>
                <a:latin typeface="Arial"/>
              </a:rPr>
              <a:t> auf 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weitere</a:t>
            </a:r>
            <a:r>
              <a:rPr sz="1400" b="0" i="0" dirty="0">
                <a:solidFill>
                  <a:srgbClr val="1C1C2E"/>
                </a:solidFill>
                <a:latin typeface="Arial"/>
              </a:rPr>
              <a:t> ODCF-</a:t>
            </a:r>
            <a:r>
              <a:rPr sz="1400" b="0" i="0" dirty="0" err="1">
                <a:solidFill>
                  <a:srgbClr val="1C1C2E"/>
                </a:solidFill>
                <a:latin typeface="Arial"/>
              </a:rPr>
              <a:t>Dienste</a:t>
            </a:r>
            <a:endParaRPr sz="1400" b="0" i="0" dirty="0">
              <a:solidFill>
                <a:srgbClr val="1C1C2E"/>
              </a:solidFill>
              <a:latin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0000" y="4571999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Projektergebnis: Blueprint-PBS odcf-fs04 vollständig aufgebaut, getestet und an das ODCF-Team übergeben.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Zusammenfassung</a:t>
            </a:r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14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314000"/>
            <a:ext cx="198000" cy="324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6000" y="126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72"/>
                </a:solidFill>
                <a:latin typeface="Arial"/>
              </a:rPr>
              <a:t>Projektziel erreicht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49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Dedizierter PBS odcf-fs04 eingerichtet und vollständig in den PVE-Cluster integriert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854000"/>
            <a:ext cx="198000" cy="324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000" y="180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E73"/>
                </a:solidFill>
                <a:latin typeface="Arial"/>
              </a:rPr>
              <a:t>Alle Tests bestanden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03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Backup, Restore und Integritätsprüfung erfolgreich: Abnahme durch Betreuer erteilt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394000"/>
            <a:ext cx="198000" cy="3240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6000" y="234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BC2"/>
                </a:solidFill>
                <a:latin typeface="Arial"/>
              </a:rPr>
              <a:t>Im Zeitrahmen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57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34,5 von 40 geplanten Stunden genutzt (-5,5 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934000"/>
            <a:ext cx="198000" cy="32400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6000" y="288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8A00"/>
                </a:solidFill>
                <a:latin typeface="Arial"/>
              </a:rPr>
              <a:t>Dokumentation vollständig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000" y="311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Betriebsdokumentation im ODCF-DokuWiki und Projektdokumentation für IHK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74000"/>
            <a:ext cx="198000" cy="32400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6000" y="342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B7A90"/>
                </a:solidFill>
                <a:latin typeface="Arial"/>
              </a:rPr>
              <a:t>Mehrwert für die ODCF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000" y="365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Zentrale Verwaltung, schnellere Restores, Monitoring: solide Basis für den Produktivgang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43500"/>
            <a:ext cx="12193200" cy="171450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43500"/>
            <a:ext cx="12193200" cy="381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288000"/>
            <a:ext cx="2880000" cy="528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1260000"/>
            <a:ext cx="111132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Vielen Dank für Ihre Aufmerksamkeit!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60000"/>
            <a:ext cx="1111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9ED9"/>
                </a:solidFill>
                <a:latin typeface="Arial"/>
              </a:rPr>
              <a:t>Fragen und Fachgespräch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328000"/>
            <a:ext cx="1111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2279</Words>
  <Application>Microsoft Macintosh PowerPoint</Application>
  <PresentationFormat>Benutzerdefiniert</PresentationFormat>
  <Paragraphs>409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Johannes Nguyen</cp:lastModifiedBy>
  <cp:revision>3</cp:revision>
  <dcterms:created xsi:type="dcterms:W3CDTF">2013-01-27T09:14:16Z</dcterms:created>
  <dcterms:modified xsi:type="dcterms:W3CDTF">2026-06-28T16:22:46Z</dcterms:modified>
  <cp:category/>
</cp:coreProperties>
</file>